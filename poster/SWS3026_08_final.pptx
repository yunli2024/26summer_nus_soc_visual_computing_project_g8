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b9772fa26241d5" /><Relationship Type="http://schemas.openxmlformats.org/officeDocument/2006/relationships/extended-properties" Target="/docProps/app.xml" Id="Rc79aff22a5df4095" /><Relationship Type="http://schemas.openxmlformats.org/officeDocument/2006/relationships/officeDocument" Target="/ppt/presentation.xml" Id="R4e78bd02eafa43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0c8797cb5409a"/>
  </p:sldMasterIdLst>
  <p:notesMasterIdLst>
    <p:notesMasterId xmlns:r="http://schemas.openxmlformats.org/officeDocument/2006/relationships" r:id="R15d010e9c61d46a2"/>
  </p:notesMasterIdLst>
  <p:sldIdLst>
    <p:sldId xmlns:r="http://schemas.openxmlformats.org/officeDocument/2006/relationships" id="256" r:id="Rc5d43f39ab6e457b"/>
  </p:sldIdLst>
  <p:sldSz cx="21383625" cy="30275213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aa243663df4af4" /><Relationship Type="http://schemas.openxmlformats.org/officeDocument/2006/relationships/slideMaster" Target="/ppt/slideMasters/slideMaster1.xml" Id="R3710c8797cb5409a" /><Relationship Type="http://schemas.openxmlformats.org/officeDocument/2006/relationships/notesMaster" Target="/ppt/notesMasters/notesMaster1.xml" Id="R15d010e9c61d46a2" /><Relationship Type="http://schemas.openxmlformats.org/officeDocument/2006/relationships/presProps" Target="/ppt/presProps.xml" Id="Rf1a5904d50e04973" /><Relationship Type="http://schemas.openxmlformats.org/officeDocument/2006/relationships/viewProps" Target="/ppt/viewProps.xml" Id="R5e7a97a087ef42a0" /><Relationship Type="http://schemas.openxmlformats.org/officeDocument/2006/relationships/tableStyles" Target="/ppt/tableStyles.xml" Id="R04cbe0cb03b0450c" /><Relationship Type="http://schemas.openxmlformats.org/officeDocument/2006/relationships/slide" Target="/ppt/slides/slide1.xml" Id="Rc5d43f39ab6e45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adcd37cb2448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50c7dfa1d6421b" /><Relationship Type="http://schemas.openxmlformats.org/officeDocument/2006/relationships/notesMaster" Target="/ppt/notesMasters/notesMaster1.xml" Id="R412798ed4bb54f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docs/course_materials/Visual_Computing_Project.pdf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expert_level/artifacts_svm_geometry/metrics.json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expert_level/LEVEL2_TRAINING_DETAILED_REPORT.md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bonus_level/task2_results/summary.json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bonus_level/TASK2_REPORT.md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bonus_level/dance_scoring.py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39f6169ea40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1f1259b4a48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c97ef111c47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631da6eac4b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1d4267cfa40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a2ae60a3246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c5b01c3f944a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6839c4633450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b024d55c54b3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a54528a6b45f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2c6422c4d4e1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19F99-6850-C70F-C018-09CD5FE2A22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831884" y="4954894"/>
            <a:ext cx="15720231" cy="10540535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26486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6940A2-12FD-13F5-0E93-A7FF237BAE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31884" y="15901911"/>
            <a:ext cx="15720231" cy="7309689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596"/>
            </a:lvl1pPr>
            <a:lvl2pPr marL="660380" indent="0" algn="ctr">
              <a:buNone/>
              <a:defRPr sz="8830"/>
            </a:lvl2pPr>
            <a:lvl3pPr marL="1320759" indent="0" algn="ctr">
              <a:buNone/>
              <a:defRPr sz="7946"/>
            </a:lvl3pPr>
            <a:lvl4pPr marL="1981139" indent="0" algn="ctr">
              <a:buNone/>
              <a:defRPr sz="7063"/>
            </a:lvl4pPr>
            <a:lvl5pPr marL="2641519" indent="0" algn="ctr">
              <a:buNone/>
              <a:defRPr sz="7063"/>
            </a:lvl5pPr>
            <a:lvl6pPr marL="3301898" indent="0" algn="ctr">
              <a:buNone/>
              <a:defRPr sz="7063"/>
            </a:lvl6pPr>
            <a:lvl7pPr marL="3962278" indent="0" algn="ctr">
              <a:buNone/>
              <a:defRPr sz="7063"/>
            </a:lvl7pPr>
            <a:lvl8pPr marL="4622658" indent="0" algn="ctr">
              <a:buNone/>
              <a:defRPr sz="7063"/>
            </a:lvl8pPr>
            <a:lvl9pPr marL="5283037" indent="0" algn="ctr">
              <a:buNone/>
              <a:defRPr sz="7063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A0E1E2-3D2B-A62C-97A6-C28910EAAC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0AE5D9-9AE8-3405-86D1-115D09117A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F5EEA7-2A5C-5CD6-7EE7-A8614E0373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F334B8-118D-61F8-01DF-4F062D4BC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089075-3498-3FF2-973B-E51D808696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758437-9D5E-1F68-9D7D-2ADD924635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5E3ED4-1F01-269D-DCC7-EB8CA31F8B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8905F2-C276-D4F6-8B29-0AEF4E61CC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94AA74-7398-3251-CBF8-87506CEC8C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1951" y="7547979"/>
            <a:ext cx="18078265" cy="12593972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6486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61D043-58DB-1576-18D3-46FFEDDF36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1951" y="20261096"/>
            <a:ext cx="18078265" cy="662287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96">
                <a:solidFill>
                  <a:schemeClr val="tx1">
                    <a:tint val="82000"/>
                  </a:schemeClr>
                </a:solidFill>
              </a:defRPr>
            </a:lvl1pPr>
            <a:lvl2pPr marL="660380" indent="0">
              <a:buNone/>
              <a:defRPr sz="8830">
                <a:solidFill>
                  <a:schemeClr val="tx1">
                    <a:tint val="82000"/>
                  </a:schemeClr>
                </a:solidFill>
              </a:defRPr>
            </a:lvl2pPr>
            <a:lvl3pPr marL="1320759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3pPr>
            <a:lvl4pPr marL="1981139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4pPr>
            <a:lvl5pPr marL="2641519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5pPr>
            <a:lvl6pPr marL="3301898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6pPr>
            <a:lvl7pPr marL="3962278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7pPr>
            <a:lvl8pPr marL="4622658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8pPr>
            <a:lvl9pPr marL="5283037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972FBB-9F66-C321-2BAB-D72EC77344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C27542-37AC-A7CA-2C8F-8B6DE44761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EB0545-9662-5E84-DA6D-247A88EFAA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3FEB52-4308-7178-47B9-353B2B206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F9A2A0-AF03-9A30-E92B-1B4C19DED0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52869" y="8059584"/>
            <a:ext cx="8908131" cy="19209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E56E00C-EDBA-61C9-8D7C-32516C1306A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0823003" y="8059584"/>
            <a:ext cx="8908131" cy="19209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B34DB1A-B94A-A521-8E84-2A18297F6C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B130D5C-0857-E052-797C-23D9079407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1BA20BC-78DD-3E0D-EC29-96FCBC3B0A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352749-CBB5-9933-BAEB-E867A3093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55598" y="1611920"/>
            <a:ext cx="18078265" cy="5851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4F4FBD-82A7-BE12-81F4-9281D8838F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5598" y="7421829"/>
            <a:ext cx="8867191" cy="36373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0596" b="1"/>
            </a:lvl1pPr>
            <a:lvl2pPr marL="660380" indent="0">
              <a:buNone/>
              <a:defRPr sz="8830" b="1"/>
            </a:lvl2pPr>
            <a:lvl3pPr marL="1320759" indent="0">
              <a:buNone/>
              <a:defRPr sz="7946" b="1"/>
            </a:lvl3pPr>
            <a:lvl4pPr marL="1981139" indent="0">
              <a:buNone/>
              <a:defRPr sz="7063" b="1"/>
            </a:lvl4pPr>
            <a:lvl5pPr marL="2641519" indent="0">
              <a:buNone/>
              <a:defRPr sz="7063" b="1"/>
            </a:lvl5pPr>
            <a:lvl6pPr marL="3301898" indent="0">
              <a:buNone/>
              <a:defRPr sz="7063" b="1"/>
            </a:lvl6pPr>
            <a:lvl7pPr marL="3962278" indent="0">
              <a:buNone/>
              <a:defRPr sz="7063" b="1"/>
            </a:lvl7pPr>
            <a:lvl8pPr marL="4622658" indent="0">
              <a:buNone/>
              <a:defRPr sz="7063" b="1"/>
            </a:lvl8pPr>
            <a:lvl9pPr marL="5283037" indent="0">
              <a:buNone/>
              <a:defRPr sz="7063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872B6B-748C-DB57-F42F-4B7BD44ABF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5598" y="11059151"/>
            <a:ext cx="8867191" cy="1626634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E8D77AE-9E86-20D4-135D-A2E1DF44F55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0823003" y="7421829"/>
            <a:ext cx="8910860" cy="36373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0596" b="1"/>
            </a:lvl1pPr>
            <a:lvl2pPr marL="660380" indent="0">
              <a:buNone/>
              <a:defRPr sz="8830" b="1"/>
            </a:lvl2pPr>
            <a:lvl3pPr marL="1320759" indent="0">
              <a:buNone/>
              <a:defRPr sz="7946" b="1"/>
            </a:lvl3pPr>
            <a:lvl4pPr marL="1981139" indent="0">
              <a:buNone/>
              <a:defRPr sz="7063" b="1"/>
            </a:lvl4pPr>
            <a:lvl5pPr marL="2641519" indent="0">
              <a:buNone/>
              <a:defRPr sz="7063" b="1"/>
            </a:lvl5pPr>
            <a:lvl6pPr marL="3301898" indent="0">
              <a:buNone/>
              <a:defRPr sz="7063" b="1"/>
            </a:lvl6pPr>
            <a:lvl7pPr marL="3962278" indent="0">
              <a:buNone/>
              <a:defRPr sz="7063" b="1"/>
            </a:lvl7pPr>
            <a:lvl8pPr marL="4622658" indent="0">
              <a:buNone/>
              <a:defRPr sz="7063" b="1"/>
            </a:lvl8pPr>
            <a:lvl9pPr marL="5283037" indent="0">
              <a:buNone/>
              <a:defRPr sz="7063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9EF2861-1F3E-DC2B-AA95-78C01ECD4F0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823003" y="11059151"/>
            <a:ext cx="8910860" cy="1626634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407276C-C156-D904-C973-961774EC59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4EEA850-D7CD-9CF2-07DF-BEA56F12EB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FE7AA6D-8416-8B33-4EA3-88A46C7A51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8A75B2-F67A-D1C6-8F43-3FBD14FC3D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7223D4F-3D0E-92E4-D00D-E732A215A5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2BAC5D8-7320-D0A8-837A-05CFABB3D9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F20E8FA-E9FD-3F33-938C-728E1E0417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A48395F-BFE2-3A21-51C6-7C424EBD3D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4BAA737-E12D-B4B1-60F4-E5B13F51DE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96F754F-CEB3-82ED-18B9-E8EA564C3E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23C61E-391A-B519-8FD1-0F4BF81375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55598" y="2018400"/>
            <a:ext cx="6760243" cy="70644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4126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75A2E1-1019-56DF-94D7-6534D25C24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22706" y="4359185"/>
            <a:ext cx="10611157" cy="2151558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126"/>
            </a:lvl1pPr>
            <a:lvl2pPr>
              <a:buNone/>
              <a:defRPr sz="12360"/>
            </a:lvl2pPr>
            <a:lvl3pPr>
              <a:buNone/>
              <a:defRPr sz="10596"/>
            </a:lvl3pPr>
            <a:lvl4pPr>
              <a:buNone/>
              <a:defRPr sz="8830"/>
            </a:lvl4pPr>
            <a:lvl5pPr>
              <a:buNone/>
              <a:defRPr sz="8830"/>
            </a:lvl5pPr>
            <a:lvl6pPr>
              <a:buNone/>
              <a:defRPr sz="8830"/>
            </a:lvl6pPr>
            <a:lvl7pPr>
              <a:buNone/>
              <a:defRPr sz="8830"/>
            </a:lvl7pPr>
            <a:lvl8pPr>
              <a:buNone/>
              <a:defRPr sz="8830"/>
            </a:lvl8pPr>
            <a:lvl9pPr>
              <a:buNone/>
              <a:defRPr sz="883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0C2EA6E-2C63-1E2D-006B-92F34667E5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55598" y="9082800"/>
            <a:ext cx="6760243" cy="1682701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063"/>
            </a:lvl1pPr>
            <a:lvl2pPr marL="660380" indent="0">
              <a:buNone/>
              <a:defRPr sz="6180"/>
            </a:lvl2pPr>
            <a:lvl3pPr marL="1320759" indent="0">
              <a:buNone/>
              <a:defRPr sz="5297"/>
            </a:lvl3pPr>
            <a:lvl4pPr marL="1981139" indent="0">
              <a:buNone/>
              <a:defRPr sz="4413"/>
            </a:lvl4pPr>
            <a:lvl5pPr marL="2641519" indent="0">
              <a:buNone/>
              <a:defRPr sz="4413"/>
            </a:lvl5pPr>
            <a:lvl6pPr marL="3301898" indent="0">
              <a:buNone/>
              <a:defRPr sz="4413"/>
            </a:lvl6pPr>
            <a:lvl7pPr marL="3962278" indent="0">
              <a:buNone/>
              <a:defRPr sz="4413"/>
            </a:lvl7pPr>
            <a:lvl8pPr marL="4622658" indent="0">
              <a:buNone/>
              <a:defRPr sz="4413"/>
            </a:lvl8pPr>
            <a:lvl9pPr marL="5283037" indent="0">
              <a:buNone/>
              <a:defRPr sz="44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D52F6C3-D037-AEAC-A29D-F879368A5E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AAD478-E881-F855-207E-E31A51B26E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F5D7F6-6D98-E004-8347-5D2410735D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73AFBF-B47D-226C-69F0-91D6CEC81F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55598" y="2018400"/>
            <a:ext cx="6760243" cy="70644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4126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1630808-8D77-A4A7-F839-83257E93ECB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9122706" y="4359185"/>
            <a:ext cx="10611157" cy="2151558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126"/>
            </a:lvl1pPr>
            <a:lvl2pPr marL="660380" indent="0">
              <a:buNone/>
              <a:defRPr sz="12360"/>
            </a:lvl2pPr>
            <a:lvl3pPr marL="1320759" indent="0">
              <a:buNone/>
              <a:defRPr sz="10596"/>
            </a:lvl3pPr>
            <a:lvl4pPr marL="1981139" indent="0">
              <a:buNone/>
              <a:defRPr sz="8830"/>
            </a:lvl4pPr>
            <a:lvl5pPr marL="2641519" indent="0">
              <a:buNone/>
              <a:defRPr sz="8830"/>
            </a:lvl5pPr>
            <a:lvl6pPr marL="3301898" indent="0">
              <a:buNone/>
              <a:defRPr sz="8830"/>
            </a:lvl6pPr>
            <a:lvl7pPr marL="3962278" indent="0">
              <a:buNone/>
              <a:defRPr sz="8830"/>
            </a:lvl7pPr>
            <a:lvl8pPr marL="4622658" indent="0">
              <a:buNone/>
              <a:defRPr sz="8830"/>
            </a:lvl8pPr>
            <a:lvl9pPr marL="5283037" indent="0">
              <a:buNone/>
              <a:defRPr sz="883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A1246A1-10CB-E9D0-252A-9D74BD9DFF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55598" y="9082800"/>
            <a:ext cx="6760243" cy="1682701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063"/>
            </a:lvl1pPr>
            <a:lvl2pPr marL="660380" indent="0">
              <a:buNone/>
              <a:defRPr sz="6180"/>
            </a:lvl2pPr>
            <a:lvl3pPr marL="1320759" indent="0">
              <a:buNone/>
              <a:defRPr sz="5297"/>
            </a:lvl3pPr>
            <a:lvl4pPr marL="1981139" indent="0">
              <a:buNone/>
              <a:defRPr sz="4413"/>
            </a:lvl4pPr>
            <a:lvl5pPr marL="2641519" indent="0">
              <a:buNone/>
              <a:defRPr sz="4413"/>
            </a:lvl5pPr>
            <a:lvl6pPr marL="3301898" indent="0">
              <a:buNone/>
              <a:defRPr sz="4413"/>
            </a:lvl6pPr>
            <a:lvl7pPr marL="3962278" indent="0">
              <a:buNone/>
              <a:defRPr sz="4413"/>
            </a:lvl7pPr>
            <a:lvl8pPr marL="4622658" indent="0">
              <a:buNone/>
              <a:defRPr sz="4413"/>
            </a:lvl8pPr>
            <a:lvl9pPr marL="5283037" indent="0">
              <a:buNone/>
              <a:defRPr sz="44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205A76-97F2-7379-A928-94039CF428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6C8E02B-1C49-83E3-B0EE-0F24FD3D8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D10525-A2F9-DE1D-2893-2CCC9C2051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993DE6-B80E-117C-03A3-4F59A2D4B2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8B3D88-0C01-92E3-5CA4-3CD03B745A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58FE3F-87CF-3846-0D9C-AC4FE3041C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DBDDFB-FFAB-80F2-E25A-7986048A10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CB0284-D3F7-53C0-CC0D-C4203C1301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F42432F-5B9E-A3A2-6D94-433F3EC9E4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11565" y="1611917"/>
            <a:ext cx="4519566" cy="2565751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0743C1-5E8A-B74A-E350-DBDF73196C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2866" y="1611917"/>
            <a:ext cx="13296696" cy="2565751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731664-B4A4-2DBB-203A-FE28B5D2B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972BBD-A6CD-8B4E-1FCD-D1F8341BEB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A45BB1-3BEF-0B6A-00E7-4780F13306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1e793c6a5b4981" /><Relationship Type="http://schemas.openxmlformats.org/officeDocument/2006/relationships/slideLayout" Target="/ppt/slideLayouts/slideLayout1.xml" Id="R6b674e53fa204baa" /><Relationship Type="http://schemas.openxmlformats.org/officeDocument/2006/relationships/slideLayout" Target="/ppt/slideLayouts/slideLayout2.xml" Id="R81fbf9a38b2646a4" /><Relationship Type="http://schemas.openxmlformats.org/officeDocument/2006/relationships/slideLayout" Target="/ppt/slideLayouts/slideLayout3.xml" Id="R65f051c74e76491d" /><Relationship Type="http://schemas.openxmlformats.org/officeDocument/2006/relationships/slideLayout" Target="/ppt/slideLayouts/slideLayout4.xml" Id="Rb00a308c84664faf" /><Relationship Type="http://schemas.openxmlformats.org/officeDocument/2006/relationships/slideLayout" Target="/ppt/slideLayouts/slideLayout5.xml" Id="R523c12b10d77424e" /><Relationship Type="http://schemas.openxmlformats.org/officeDocument/2006/relationships/slideLayout" Target="/ppt/slideLayouts/slideLayout6.xml" Id="Rf937d098a2fa4760" /><Relationship Type="http://schemas.openxmlformats.org/officeDocument/2006/relationships/slideLayout" Target="/ppt/slideLayouts/slideLayout7.xml" Id="R53dbf0f5ae764f5c" /><Relationship Type="http://schemas.openxmlformats.org/officeDocument/2006/relationships/slideLayout" Target="/ppt/slideLayouts/slideLayout8.xml" Id="R410953d7050442f0" /><Relationship Type="http://schemas.openxmlformats.org/officeDocument/2006/relationships/slideLayout" Target="/ppt/slideLayouts/slideLayout9.xml" Id="Rda4cbe0db2f2426b" /><Relationship Type="http://schemas.openxmlformats.org/officeDocument/2006/relationships/slideLayout" Target="/ppt/slideLayouts/slideLayout10.xml" Id="R0c4f8e40197f402a" /><Relationship Type="http://schemas.openxmlformats.org/officeDocument/2006/relationships/slideLayout" Target="/ppt/slideLayouts/slideLayout11.xml" Id="Rd5b5a008a57b406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224C1E2-5135-CD23-8299-9C6B91FCF9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52869" y="1611920"/>
            <a:ext cx="18078265" cy="585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279471" tIns="139735" rIns="279471" bIns="139735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A1B2A9-1854-528F-5F2A-115F9F63C5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2869" y="8059584"/>
            <a:ext cx="18078265" cy="19209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279471" tIns="139735" rIns="279471" bIns="139735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6F87FA-EDEE-1F35-558A-1E3AC55AA1E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652866" y="28061368"/>
            <a:ext cx="4716069" cy="1611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279471" tIns="139735" rIns="279471" bIns="139735" anchor="ctr"/>
          <a:lstStyle xmlns:a="http://schemas.openxmlformats.org/drawingml/2006/main">
            <a:lvl1pPr algn="l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44C065A-0D47-7F47-A040-237600A4CEC4}" type="datetimeFigureOut">
              <a:t>2026/7/28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311D88-0C44-9B34-E316-E9ED80F69B8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154949" y="28061368"/>
            <a:ext cx="7074104" cy="1611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279471" tIns="139735" rIns="279471" bIns="139735" anchor="ctr"/>
          <a:lstStyle xmlns:a="http://schemas.openxmlformats.org/drawingml/2006/main">
            <a:lvl1pPr algn="ctr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CA8B4F-D5AA-BF83-70CE-90DC6E07661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5015065" y="28061368"/>
            <a:ext cx="4716069" cy="1611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279471" tIns="139735" rIns="279471" bIns="139735" anchor="ctr"/>
          <a:lstStyle xmlns:a="http://schemas.openxmlformats.org/drawingml/2006/main">
            <a:lvl1pPr algn="r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1E749E1-B0DC-7E4D-A58B-CCEC15E1A082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674e53fa204baa"/>
    <p:sldLayoutId xmlns:r="http://schemas.openxmlformats.org/officeDocument/2006/relationships" id="2147483650" r:id="R81fbf9a38b2646a4"/>
    <p:sldLayoutId xmlns:r="http://schemas.openxmlformats.org/officeDocument/2006/relationships" id="2147483651" r:id="R65f051c74e76491d"/>
    <p:sldLayoutId xmlns:r="http://schemas.openxmlformats.org/officeDocument/2006/relationships" id="2147483652" r:id="Rb00a308c84664faf"/>
    <p:sldLayoutId xmlns:r="http://schemas.openxmlformats.org/officeDocument/2006/relationships" id="2147483653" r:id="R523c12b10d77424e"/>
    <p:sldLayoutId xmlns:r="http://schemas.openxmlformats.org/officeDocument/2006/relationships" id="2147483654" r:id="Rf937d098a2fa4760"/>
    <p:sldLayoutId xmlns:r="http://schemas.openxmlformats.org/officeDocument/2006/relationships" id="2147483655" r:id="R53dbf0f5ae764f5c"/>
    <p:sldLayoutId xmlns:r="http://schemas.openxmlformats.org/officeDocument/2006/relationships" id="2147483656" r:id="R410953d7050442f0"/>
    <p:sldLayoutId xmlns:r="http://schemas.openxmlformats.org/officeDocument/2006/relationships" id="2147483657" r:id="Rda4cbe0db2f2426b"/>
    <p:sldLayoutId xmlns:r="http://schemas.openxmlformats.org/officeDocument/2006/relationships" id="2147483658" r:id="R0c4f8e40197f402a"/>
    <p:sldLayoutId xmlns:r="http://schemas.openxmlformats.org/officeDocument/2006/relationships" id="2147483659" r:id="Rd5b5a008a57b4067"/>
  </p:sldLayoutIdLst>
  <p:txStyles>
    <p:titleStyle>
      <a:lvl1pPr xmlns:a="http://schemas.openxmlformats.org/drawingml/2006/main" algn="l" defTabSz="1320759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30190" indent="-330190" algn="l" defTabSz="1320759">
        <a:lnSpc>
          <a:spcPct val="90000"/>
        </a:lnSpc>
        <a:spcBef>
          <a:spcPts val="1444"/>
        </a:spcBef>
        <a:buFont typeface="Arial"/>
        <a:buChar char="•"/>
        <a:defRPr sz="404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990570" indent="-330190" algn="l" defTabSz="1320759">
        <a:lnSpc>
          <a:spcPct val="90000"/>
        </a:lnSpc>
        <a:spcBef>
          <a:spcPts val="722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650949" indent="-330190" algn="l" defTabSz="1320759">
        <a:lnSpc>
          <a:spcPct val="90000"/>
        </a:lnSpc>
        <a:spcBef>
          <a:spcPts val="722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311329" indent="-330190" algn="l" defTabSz="1320759">
        <a:lnSpc>
          <a:spcPct val="90000"/>
        </a:lnSpc>
        <a:spcBef>
          <a:spcPts val="722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971709" indent="-330190" algn="l" defTabSz="1320759">
        <a:lnSpc>
          <a:spcPct val="90000"/>
        </a:lnSpc>
        <a:spcBef>
          <a:spcPts val="722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632088" indent="-330190" algn="l" defTabSz="1320759">
        <a:lnSpc>
          <a:spcPct val="90000"/>
        </a:lnSpc>
        <a:spcBef>
          <a:spcPts val="722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4292468" indent="-330190" algn="l" defTabSz="1320759">
        <a:lnSpc>
          <a:spcPct val="90000"/>
        </a:lnSpc>
        <a:spcBef>
          <a:spcPts val="722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952848" indent="-330190" algn="l" defTabSz="1320759">
        <a:lnSpc>
          <a:spcPct val="90000"/>
        </a:lnSpc>
        <a:spcBef>
          <a:spcPts val="722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613227" indent="-330190" algn="l" defTabSz="1320759">
        <a:lnSpc>
          <a:spcPct val="90000"/>
        </a:lnSpc>
        <a:spcBef>
          <a:spcPts val="722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320759">
        <a:buNone/>
        <a:defRPr sz="2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60380" algn="l" defTabSz="1320759">
        <a:buNone/>
        <a:defRPr sz="26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20759" algn="l" defTabSz="1320759">
        <a:buNone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81139" algn="l" defTabSz="1320759">
        <a:buNone/>
        <a:defRPr sz="2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41519" algn="l" defTabSz="1320759">
        <a:buNone/>
        <a:defRPr sz="2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301898" algn="l" defTabSz="1320759">
        <a:buNone/>
        <a:defRPr sz="26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962278" algn="l" defTabSz="1320759">
        <a:buNone/>
        <a:defRPr sz="26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622658" algn="l" defTabSz="1320759">
        <a:buNone/>
        <a:defRPr sz="26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283037" algn="l" defTabSz="1320759">
        <a:buNone/>
        <a:defRPr sz="26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bf6de8c838493e" /><Relationship Type="http://schemas.openxmlformats.org/officeDocument/2006/relationships/image" Target="/ppt/media/image.png" Id="Ra0320aa5eba143af" /><Relationship Type="http://schemas.openxmlformats.org/officeDocument/2006/relationships/image" Target="/ppt/media/image.jpeg" Id="R0d94c7d5594c47cd" /><Relationship Type="http://schemas.openxmlformats.org/officeDocument/2006/relationships/image" Target="/ppt/media/image.svg" Id="R25e1a2c696354323" /><Relationship Type="http://schemas.openxmlformats.org/officeDocument/2006/relationships/image" Target="/ppt/media/image2.png" Id="Rc02f237e137d4839" /><Relationship Type="http://schemas.openxmlformats.org/officeDocument/2006/relationships/image" Target="/ppt/media/image3.png" Id="Re727235e1e9a4571" /><Relationship Type="http://schemas.openxmlformats.org/officeDocument/2006/relationships/image" Target="/ppt/media/image4.png" Id="Rbc1a826a6c92424a" /><Relationship Type="http://schemas.openxmlformats.org/officeDocument/2006/relationships/image" Target="/ppt/media/image5.png" Id="R177a40aa58a04ed4" /><Relationship Type="http://schemas.openxmlformats.org/officeDocument/2006/relationships/notesSlide" Target="/ppt/notesSlides/notesSlide1.xml" Id="R8b899f3c26d84c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">
            <a:extLst xmlns:a="http://schemas.openxmlformats.org/drawingml/2006/main">
              <a:ext uri="{FF2B5EF4-FFF2-40B4-BE49-F238E27FC236}">
                <a16:creationId xmlns:a16="http://schemas.microsoft.com/office/drawing/2014/main" id="{CA9249BE-7779-23AB-2CBD-1646DF3D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46" y="0"/>
            <a:ext cx="20960381" cy="1903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615" tIns="44797" rIns="89615" bIns="44797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5" name="Google Shape;85;p1">
            <a:extLst xmlns:a="http://schemas.openxmlformats.org/drawingml/2006/main">
              <a:ext uri="{FF2B5EF4-FFF2-40B4-BE49-F238E27FC236}">
                <a16:creationId xmlns:a16="http://schemas.microsoft.com/office/drawing/2014/main" id="{EF106BF7-E1C8-3ADC-F494-511B942D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25" y="611229"/>
            <a:ext cx="11870365" cy="680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9615" tIns="44797" rIns="89615" bIns="44797" anchor="t">
            <a:spAutoFit/>
          </a:bodyPr>
          <a:lstStyle xmlns:a="http://schemas.openxmlformats.org/drawingml/2006/main"/>
          <a:p xmlns:a="http://schemas.openxmlformats.org/drawingml/2006/main">
            <a:r>
              <a:rPr sz="3836" b="1">
                <a:solidFill>
                  <a:schemeClr val="lt1"/>
                </a:solidFill>
                <a:latin typeface="Verdana"/>
                <a:ea typeface="Verdana"/>
                <a:cs typeface="Verdana"/>
              </a:rPr>
              <a:t>NUS SOC Summer Workshop 2026</a:t>
            </a:r>
          </a:p>
        </p:txBody>
      </p:sp>
      <p:pic>
        <p:nvPicPr>
          <p:cNvPr id="25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20aa5eba143af"/>
          <a:srcRect xmlns:a="http://schemas.openxmlformats.org/drawingml/2006/main" l="55743" t="53155" r="4590" b="35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46654" y="149384"/>
            <a:ext cx="7527342" cy="1550207"/>
          </a:xfrm>
          <a:prstGeom xmlns:a="http://schemas.openxmlformats.org/drawingml/2006/main" prst="rect">
            <a:avLst/>
          </a:prstGeom>
        </p:spPr>
      </p:pic>
      <p:sp>
        <p:nvSpPr>
          <p:cNvPr id="87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1CF85F4D-0DF0-47B4-B8BA-B105C91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08" y="2037808"/>
            <a:ext cx="2014518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150" b="1" i="0">
                <a:solidFill>
                  <a:srgbClr val="17365D"/>
                </a:solidFill>
              </a:defRPr>
            </a:pPr>
            <a:r>
              <a:rPr sz="5150" b="1" i="0">
                <a:solidFill>
                  <a:srgbClr val="17365D"/>
                </a:solidFill>
              </a:rPr>
              <a:t>Real-time Facial and Body Keypoint Analysis for</a:t>
            </a:r>
          </a:p>
          <a:p xmlns:a="http://schemas.openxmlformats.org/drawingml/2006/main">
            <a:pPr algn="l">
              <a:buNone/>
              <a:defRPr sz="5150" b="1" i="0">
                <a:solidFill>
                  <a:srgbClr val="17365D"/>
                </a:solidFill>
              </a:defRPr>
            </a:pPr>
            <a:r>
              <a:rPr sz="5150" b="1" i="0">
                <a:solidFill>
                  <a:srgbClr val="17365D"/>
                </a:solidFill>
              </a:rPr>
              <a:t>Interactive Video Applications</a:t>
            </a:r>
          </a:p>
        </p:txBody>
      </p:sp>
      <p:sp>
        <p:nvSpPr>
          <p:cNvPr id="88" name="project-metadata">
            <a:extLst xmlns:a="http://schemas.openxmlformats.org/drawingml/2006/main">
              <a:ext uri="{FF2B5EF4-FFF2-40B4-BE49-F238E27FC236}">
                <a16:creationId xmlns:a16="http://schemas.microsoft.com/office/drawing/2014/main" id="{88D8B479-E543-4069-A7E4-ECEC5BCD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08" y="3435162"/>
            <a:ext cx="20145185" cy="349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00" b="1" i="0">
                <a:solidFill>
                  <a:srgbClr val="3E526D"/>
                </a:solidFill>
              </a:defRPr>
            </a:pPr>
            <a:r>
              <a:rPr sz="1900" b="1" i="0">
                <a:solidFill>
                  <a:srgbClr val="3E526D"/>
                </a:solidFill>
              </a:rPr>
              <a:t>Project Code: SWS3026_08   |   Group Members: Zhang Zonghao · Wang Xiaorui · Li Yunzang · Zhang Yunxiang</a:t>
            </a:r>
          </a:p>
        </p:txBody>
      </p:sp>
      <p:sp>
        <p:nvSpPr>
          <p:cNvPr id="89" name="project-title-rule">
            <a:extLst xmlns:a="http://schemas.openxmlformats.org/drawingml/2006/main">
              <a:ext uri="{FF2B5EF4-FFF2-40B4-BE49-F238E27FC236}">
                <a16:creationId xmlns:a16="http://schemas.microsoft.com/office/drawing/2014/main" id="{509E3632-E8C9-4C82-91FB-A349E8DE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08" y="3900946"/>
            <a:ext cx="20145185" cy="582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abstract-bar">
            <a:extLst xmlns:a="http://schemas.openxmlformats.org/drawingml/2006/main">
              <a:ext uri="{FF2B5EF4-FFF2-40B4-BE49-F238E27FC236}">
                <a16:creationId xmlns:a16="http://schemas.microsoft.com/office/drawing/2014/main" id="{C8633A99-05CE-47C6-8801-D16EA46E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4085597"/>
            <a:ext cx="6063516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abstract-accent">
            <a:extLst xmlns:a="http://schemas.openxmlformats.org/drawingml/2006/main">
              <a:ext uri="{FF2B5EF4-FFF2-40B4-BE49-F238E27FC236}">
                <a16:creationId xmlns:a16="http://schemas.microsoft.com/office/drawing/2014/main" id="{8F75D4B2-95CC-4C52-A83B-5E3644A4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4085597"/>
            <a:ext cx="10480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abstract-title">
            <a:extLst xmlns:a="http://schemas.openxmlformats.org/drawingml/2006/main">
              <a:ext uri="{FF2B5EF4-FFF2-40B4-BE49-F238E27FC236}">
                <a16:creationId xmlns:a16="http://schemas.microsoft.com/office/drawing/2014/main" id="{ABD166C5-4B03-4DE2-884F-D837E10C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74" y="4115540"/>
            <a:ext cx="5764085" cy="44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</a:defRPr>
            </a:pPr>
            <a:r>
              <a:rPr sz="3000" b="1" i="0">
                <a:solidFill>
                  <a:srgbClr val="17365D"/>
                </a:solidFill>
              </a:rPr>
              <a:t>Abstract</a:t>
            </a:r>
          </a:p>
        </p:txBody>
      </p:sp>
      <p:sp>
        <p:nvSpPr>
          <p:cNvPr id="93" name="abstract-copy">
            <a:extLst xmlns:a="http://schemas.openxmlformats.org/drawingml/2006/main">
              <a:ext uri="{FF2B5EF4-FFF2-40B4-BE49-F238E27FC236}">
                <a16:creationId xmlns:a16="http://schemas.microsoft.com/office/drawing/2014/main" id="{FE88643A-62CF-45AE-A87D-36C6A6C9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41" y="4699434"/>
            <a:ext cx="6003631" cy="1631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A laptop-first keypoint pipeline powers three live webcam demos: expression effects, reaction-lag-aware dance scoring and gesture-controlled gameplay. The design prioritises real-time response and explainable geometry.</a:t>
            </a:r>
          </a:p>
        </p:txBody>
      </p:sp>
      <p:sp>
        <p:nvSpPr>
          <p:cNvPr id="94" name="contributions-bar">
            <a:extLst xmlns:a="http://schemas.openxmlformats.org/drawingml/2006/main">
              <a:ext uri="{FF2B5EF4-FFF2-40B4-BE49-F238E27FC236}">
                <a16:creationId xmlns:a16="http://schemas.microsoft.com/office/drawing/2014/main" id="{A2DB72D4-968B-4667-8B74-7937B9E9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6466090"/>
            <a:ext cx="6063516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contributions-accent">
            <a:extLst xmlns:a="http://schemas.openxmlformats.org/drawingml/2006/main">
              <a:ext uri="{FF2B5EF4-FFF2-40B4-BE49-F238E27FC236}">
                <a16:creationId xmlns:a16="http://schemas.microsoft.com/office/drawing/2014/main" id="{AAE3B11A-2288-4C0D-9684-4297E193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6466090"/>
            <a:ext cx="10480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contributions-title">
            <a:extLst xmlns:a="http://schemas.openxmlformats.org/drawingml/2006/main">
              <a:ext uri="{FF2B5EF4-FFF2-40B4-BE49-F238E27FC236}">
                <a16:creationId xmlns:a16="http://schemas.microsoft.com/office/drawing/2014/main" id="{4AFA75A9-29BF-46BF-AE67-D95A7FFA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74" y="6496033"/>
            <a:ext cx="5764085" cy="44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</a:defRPr>
            </a:pPr>
            <a:r>
              <a:rPr sz="3000" b="1" i="0">
                <a:solidFill>
                  <a:srgbClr val="17365D"/>
                </a:solidFill>
              </a:rPr>
              <a:t>Main Contributions</a:t>
            </a:r>
          </a:p>
        </p:txBody>
      </p:sp>
      <p:sp>
        <p:nvSpPr>
          <p:cNvPr id="97" name="contributions-copy">
            <a:extLst xmlns:a="http://schemas.openxmlformats.org/drawingml/2006/main">
              <a:ext uri="{FF2B5EF4-FFF2-40B4-BE49-F238E27FC236}">
                <a16:creationId xmlns:a16="http://schemas.microsoft.com/office/drawing/2014/main" id="{A68C876A-63C5-4314-84B6-760CF3DF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84" y="7079926"/>
            <a:ext cx="5943745" cy="1646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Shared face/body keypoint pipeline.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Expression: 46.33% Macro-F1; 18.08 ms.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Scale-, mirror- and reaction-lag-aware pose scoring.</a:t>
            </a:r>
          </a:p>
        </p:txBody>
      </p:sp>
      <p:sp>
        <p:nvSpPr>
          <p:cNvPr id="98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9ADE4D4E-264C-4803-80B9-E7D5ECA1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8981327"/>
            <a:ext cx="6063516" cy="1586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E4"/>
          </a:solidFill>
          <a:ln xmlns:a="http://schemas.openxmlformats.org/drawingml/2006/main" w="14973">
            <a:solidFill>
              <a:srgbClr val="DCCB8D"/>
            </a:solidFill>
            <a:prstDash val="solid"/>
          </a:ln>
        </p:spPr>
      </p:sp>
      <p:sp>
        <p:nvSpPr>
          <p:cNvPr id="99" name="question-top">
            <a:extLst xmlns:a="http://schemas.openxmlformats.org/drawingml/2006/main">
              <a:ext uri="{FF2B5EF4-FFF2-40B4-BE49-F238E27FC236}">
                <a16:creationId xmlns:a16="http://schemas.microsoft.com/office/drawing/2014/main" id="{DF7B8503-DB64-4D31-AB3A-63F28538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8981327"/>
            <a:ext cx="6063516" cy="29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40C9365A-CDEF-4AB3-9305-0732B08F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58" y="9160984"/>
            <a:ext cx="5704199" cy="329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3D3542"/>
                </a:solidFill>
              </a:defRPr>
            </a:pPr>
            <a:r>
              <a:rPr sz="2200" b="1" i="0">
                <a:solidFill>
                  <a:srgbClr val="3D3542"/>
                </a:solidFill>
              </a:rPr>
              <a:t>Research question</a:t>
            </a:r>
          </a:p>
        </p:txBody>
      </p:sp>
      <p:sp>
        <p:nvSpPr>
          <p:cNvPr id="101" name="question-copy">
            <a:extLst xmlns:a="http://schemas.openxmlformats.org/drawingml/2006/main">
              <a:ext uri="{FF2B5EF4-FFF2-40B4-BE49-F238E27FC236}">
                <a16:creationId xmlns:a16="http://schemas.microsoft.com/office/drawing/2014/main" id="{E212DDD4-4F0F-47A7-9968-CE2ED141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58" y="9535277"/>
            <a:ext cx="5704199" cy="883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4B4431"/>
                </a:solidFill>
              </a:defRPr>
            </a:pPr>
            <a:r>
              <a:rPr sz="2000" b="0" i="0">
                <a:solidFill>
                  <a:srgbClr val="4B4431"/>
                </a:solidFill>
              </a:rPr>
              <a:t>Can one lightweight keypoint pipeline support several live demos on an ordinary laptop?</a:t>
            </a:r>
          </a:p>
        </p:txBody>
      </p:sp>
      <p:sp>
        <p:nvSpPr>
          <p:cNvPr id="102" name="framework-frame">
            <a:extLst xmlns:a="http://schemas.openxmlformats.org/drawingml/2006/main">
              <a:ext uri="{FF2B5EF4-FFF2-40B4-BE49-F238E27FC236}">
                <a16:creationId xmlns:a16="http://schemas.microsoft.com/office/drawing/2014/main" id="{452711F3-F76A-4D70-B0BB-0A75F1D6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435" y="4085597"/>
            <a:ext cx="13219967" cy="6482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973">
            <a:solidFill>
              <a:srgbClr val="CBC4CF"/>
            </a:solidFill>
            <a:prstDash val="solid"/>
          </a:ln>
        </p:spPr>
      </p:sp>
      <p:pic>
        <p:nvPicPr>
          <p:cNvPr id="275" name="图形 2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4c7d5594c47cd">
            <a:extLst>
              <a:ext uri="{96DAC541-7B7A-43D3-8B79-37D633B846F1}">
                <asvg:svgBlip xmlns:asvg="http://schemas.microsoft.com/office/drawing/2016/SVG/main" r:embed="R25e1a2c6963543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58125" y="4235312"/>
            <a:ext cx="12890589" cy="4790928"/>
          </a:xfrm>
          <a:prstGeom xmlns:a="http://schemas.openxmlformats.org/drawingml/2006/main" prst="rect">
            <a:avLst/>
          </a:prstGeom>
        </p:spPr>
      </p:pic>
      <p:sp>
        <p:nvSpPr>
          <p:cNvPr id="104" name="framework-caption">
            <a:extLst xmlns:a="http://schemas.openxmlformats.org/drawingml/2006/main">
              <a:ext uri="{FF2B5EF4-FFF2-40B4-BE49-F238E27FC236}">
                <a16:creationId xmlns:a16="http://schemas.microsoft.com/office/drawing/2014/main" id="{EE2D1627-73C9-42C0-BECD-FC22BD8F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125" y="9086128"/>
            <a:ext cx="1289058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86D75"/>
                </a:solidFill>
              </a:defRPr>
            </a:pPr>
            <a:r>
              <a:rPr sz="1800" b="0" i="0">
                <a:solidFill>
                  <a:srgbClr val="686D75"/>
                </a:solidFill>
              </a:rPr>
              <a:t>Fig. 1. Webcam or reference video is converted into sparse keypoints, normalised, analysed and mapped to an interactive response.</a:t>
            </a:r>
          </a:p>
        </p:txBody>
      </p:sp>
      <p:sp>
        <p:nvSpPr>
          <p:cNvPr id="114" name="divider-left-middle">
            <a:extLst xmlns:a="http://schemas.openxmlformats.org/drawingml/2006/main">
              <a:ext uri="{FF2B5EF4-FFF2-40B4-BE49-F238E27FC236}">
                <a16:creationId xmlns:a16="http://schemas.microsoft.com/office/drawing/2014/main" id="{80A672BC-4614-4CB5-B5F7-5BBBCB0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981" y="10942610"/>
            <a:ext cx="14973" cy="18415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ivider-middle-right">
            <a:extLst xmlns:a="http://schemas.openxmlformats.org/drawingml/2006/main">
              <a:ext uri="{FF2B5EF4-FFF2-40B4-BE49-F238E27FC236}">
                <a16:creationId xmlns:a16="http://schemas.microsoft.com/office/drawing/2014/main" id="{01C2ADEA-E1D5-40FC-9F64-209E07B6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5366" y="10942610"/>
            <a:ext cx="14973" cy="18415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landmarks-bar">
            <a:extLst xmlns:a="http://schemas.openxmlformats.org/drawingml/2006/main">
              <a:ext uri="{FF2B5EF4-FFF2-40B4-BE49-F238E27FC236}">
                <a16:creationId xmlns:a16="http://schemas.microsoft.com/office/drawing/2014/main" id="{06662F10-51EA-4DC8-9F14-D256BD62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10942610"/>
            <a:ext cx="628809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landmarks-accent">
            <a:extLst xmlns:a="http://schemas.openxmlformats.org/drawingml/2006/main">
              <a:ext uri="{FF2B5EF4-FFF2-40B4-BE49-F238E27FC236}">
                <a16:creationId xmlns:a16="http://schemas.microsoft.com/office/drawing/2014/main" id="{D7896CA1-0E0A-44A7-A50E-2578036F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10942610"/>
            <a:ext cx="10480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landmarks-title">
            <a:extLst xmlns:a="http://schemas.openxmlformats.org/drawingml/2006/main">
              <a:ext uri="{FF2B5EF4-FFF2-40B4-BE49-F238E27FC236}">
                <a16:creationId xmlns:a16="http://schemas.microsoft.com/office/drawing/2014/main" id="{80F3AA93-645B-4C0A-A3A5-D1DD98CE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74" y="10972556"/>
            <a:ext cx="5988661" cy="44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00" b="1" i="0">
                <a:solidFill>
                  <a:srgbClr val="17365D"/>
                </a:solidFill>
              </a:defRPr>
            </a:pPr>
            <a:r>
              <a:rPr sz="2800" b="1" i="0">
                <a:solidFill>
                  <a:srgbClr val="17365D"/>
                </a:solidFill>
              </a:rPr>
              <a:t>1. Facial Landmark Detection</a:t>
            </a:r>
          </a:p>
        </p:txBody>
      </p:sp>
      <p:sp>
        <p:nvSpPr>
          <p:cNvPr id="119" name="landmarks-copy">
            <a:extLst xmlns:a="http://schemas.openxmlformats.org/drawingml/2006/main">
              <a:ext uri="{FF2B5EF4-FFF2-40B4-BE49-F238E27FC236}">
                <a16:creationId xmlns:a16="http://schemas.microsoft.com/office/drawing/2014/main" id="{960E5619-3F6A-4B5C-9417-BCBDCEAB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41" y="11571419"/>
            <a:ext cx="6228207" cy="119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Each webcam frame is processed by Haar/YuNet face detection followed by 68-point LBF landmarks. Models load once; the display reports the face box, landmarks and FPS.</a:t>
            </a:r>
          </a:p>
        </p:txBody>
      </p:sp>
      <p:sp>
        <p:nvSpPr>
          <p:cNvPr id="120" name="method-title">
            <a:extLst xmlns:a="http://schemas.openxmlformats.org/drawingml/2006/main">
              <a:ext uri="{FF2B5EF4-FFF2-40B4-BE49-F238E27FC236}">
                <a16:creationId xmlns:a16="http://schemas.microsoft.com/office/drawing/2014/main" id="{0F3AB877-5D77-43CC-AB2E-70905291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12873954"/>
            <a:ext cx="6288092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B3D6E"/>
                </a:solidFill>
              </a:defRPr>
            </a:pPr>
            <a:r>
              <a:rPr sz="2400" b="1" i="0">
                <a:solidFill>
                  <a:srgbClr val="5B3D6E"/>
                </a:solidFill>
              </a:rPr>
              <a:t>Method</a:t>
            </a:r>
          </a:p>
        </p:txBody>
      </p:sp>
      <p:sp>
        <p:nvSpPr>
          <p:cNvPr id="121" name="method-copy">
            <a:extLst xmlns:a="http://schemas.openxmlformats.org/drawingml/2006/main">
              <a:ext uri="{FF2B5EF4-FFF2-40B4-BE49-F238E27FC236}">
                <a16:creationId xmlns:a16="http://schemas.microsoft.com/office/drawing/2014/main" id="{1CA01A56-5A7A-4930-B10A-74DE6F01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41" y="13323103"/>
            <a:ext cx="6228207" cy="226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Webcam: OpenCV capture.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Face: Haar cascade; YuNet alternative.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Landmarks: LBF, 68 points.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Robustness: CLAHE/gamma, ROI tracking and smoothing.</a:t>
            </a:r>
          </a:p>
        </p:txBody>
      </p:sp>
      <p:sp>
        <p:nvSpPr>
          <p:cNvPr id="122" name="robustness-title">
            <a:extLst xmlns:a="http://schemas.openxmlformats.org/drawingml/2006/main">
              <a:ext uri="{FF2B5EF4-FFF2-40B4-BE49-F238E27FC236}">
                <a16:creationId xmlns:a16="http://schemas.microsoft.com/office/drawing/2014/main" id="{B6C65EB2-F80A-410E-8DB1-9BFEE28A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15643709"/>
            <a:ext cx="6288092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B3D6E"/>
                </a:solidFill>
              </a:defRPr>
            </a:pPr>
            <a:r>
              <a:rPr sz="2400" b="1" i="0">
                <a:solidFill>
                  <a:srgbClr val="5B3D6E"/>
                </a:solidFill>
              </a:rPr>
              <a:t>Robustness observations</a:t>
            </a:r>
          </a:p>
        </p:txBody>
      </p:sp>
      <p:sp>
        <p:nvSpPr>
          <p:cNvPr id="123" name="robustness-table-r0c1">
            <a:extLst xmlns:a="http://schemas.openxmlformats.org/drawingml/2006/main">
              <a:ext uri="{FF2B5EF4-FFF2-40B4-BE49-F238E27FC236}">
                <a16:creationId xmlns:a16="http://schemas.microsoft.com/office/drawing/2014/main" id="{1AA2D7B1-E108-479D-AF54-942ED4F7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16107831"/>
            <a:ext cx="1721740" cy="464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24" name="robustness-table-r0c2">
            <a:extLst xmlns:a="http://schemas.openxmlformats.org/drawingml/2006/main">
              <a:ext uri="{FF2B5EF4-FFF2-40B4-BE49-F238E27FC236}">
                <a16:creationId xmlns:a16="http://schemas.microsoft.com/office/drawing/2014/main" id="{534971C2-820B-42F8-867F-24F869EB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339" y="16107831"/>
            <a:ext cx="4566352" cy="464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25" name="robustness-table-r0t1">
            <a:extLst xmlns:a="http://schemas.openxmlformats.org/drawingml/2006/main">
              <a:ext uri="{FF2B5EF4-FFF2-40B4-BE49-F238E27FC236}">
                <a16:creationId xmlns:a16="http://schemas.microsoft.com/office/drawing/2014/main" id="{E1BCAA25-57DB-4981-9B89-12611D4A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0" y="16167717"/>
            <a:ext cx="1542080" cy="344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Condition</a:t>
            </a:r>
          </a:p>
        </p:txBody>
      </p:sp>
      <p:sp>
        <p:nvSpPr>
          <p:cNvPr id="126" name="robustness-table-r0t2">
            <a:extLst xmlns:a="http://schemas.openxmlformats.org/drawingml/2006/main">
              <a:ext uri="{FF2B5EF4-FFF2-40B4-BE49-F238E27FC236}">
                <a16:creationId xmlns:a16="http://schemas.microsoft.com/office/drawing/2014/main" id="{82A226C6-1D5D-4654-8F3F-F6233EAC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140" y="16167717"/>
            <a:ext cx="4386692" cy="344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Observed behaviour</a:t>
            </a:r>
          </a:p>
        </p:txBody>
      </p:sp>
      <p:sp>
        <p:nvSpPr>
          <p:cNvPr id="127" name="robustness-table-r1c1">
            <a:extLst xmlns:a="http://schemas.openxmlformats.org/drawingml/2006/main">
              <a:ext uri="{FF2B5EF4-FFF2-40B4-BE49-F238E27FC236}">
                <a16:creationId xmlns:a16="http://schemas.microsoft.com/office/drawing/2014/main" id="{79E6A7F2-B4AA-4396-8E2A-2E636430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16571950"/>
            <a:ext cx="1721740" cy="718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28" name="robustness-table-r1c2">
            <a:extLst xmlns:a="http://schemas.openxmlformats.org/drawingml/2006/main">
              <a:ext uri="{FF2B5EF4-FFF2-40B4-BE49-F238E27FC236}">
                <a16:creationId xmlns:a16="http://schemas.microsoft.com/office/drawing/2014/main" id="{B659DF0E-F1F6-4E5C-8AFB-545225C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339" y="16571950"/>
            <a:ext cx="4566352" cy="718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29" name="robustness-table-r1t1">
            <a:extLst xmlns:a="http://schemas.openxmlformats.org/drawingml/2006/main">
              <a:ext uri="{FF2B5EF4-FFF2-40B4-BE49-F238E27FC236}">
                <a16:creationId xmlns:a16="http://schemas.microsoft.com/office/drawing/2014/main" id="{887C69E5-4314-4DA8-A1E5-584B9BA8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0" y="16631839"/>
            <a:ext cx="1542080" cy="598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Low light</a:t>
            </a:r>
          </a:p>
        </p:txBody>
      </p:sp>
      <p:sp>
        <p:nvSpPr>
          <p:cNvPr id="130" name="robustness-table-r1t2">
            <a:extLst xmlns:a="http://schemas.openxmlformats.org/drawingml/2006/main">
              <a:ext uri="{FF2B5EF4-FFF2-40B4-BE49-F238E27FC236}">
                <a16:creationId xmlns:a16="http://schemas.microsoft.com/office/drawing/2014/main" id="{51D13FF3-7E98-43C5-A3AD-5CEA0645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140" y="16631839"/>
            <a:ext cx="4386692" cy="598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CLAHE restores local contrast.</a:t>
            </a:r>
          </a:p>
        </p:txBody>
      </p:sp>
      <p:sp>
        <p:nvSpPr>
          <p:cNvPr id="131" name="robustness-table-r2c1">
            <a:extLst xmlns:a="http://schemas.openxmlformats.org/drawingml/2006/main">
              <a:ext uri="{FF2B5EF4-FFF2-40B4-BE49-F238E27FC236}">
                <a16:creationId xmlns:a16="http://schemas.microsoft.com/office/drawing/2014/main" id="{FA1C9CC2-B5FF-4D54-9D1C-DCE2492C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17290591"/>
            <a:ext cx="1721740" cy="718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32" name="robustness-table-r2c2">
            <a:extLst xmlns:a="http://schemas.openxmlformats.org/drawingml/2006/main">
              <a:ext uri="{FF2B5EF4-FFF2-40B4-BE49-F238E27FC236}">
                <a16:creationId xmlns:a16="http://schemas.microsoft.com/office/drawing/2014/main" id="{180DD929-CEF7-4531-96EA-5C1A8E0E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339" y="17290591"/>
            <a:ext cx="4566352" cy="718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33" name="robustness-table-r2t1">
            <a:extLst xmlns:a="http://schemas.openxmlformats.org/drawingml/2006/main">
              <a:ext uri="{FF2B5EF4-FFF2-40B4-BE49-F238E27FC236}">
                <a16:creationId xmlns:a16="http://schemas.microsoft.com/office/drawing/2014/main" id="{6E2EA801-E24B-4039-A6E3-F5186A36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0" y="17350477"/>
            <a:ext cx="1542080" cy="598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Head rotation</a:t>
            </a:r>
          </a:p>
        </p:txBody>
      </p:sp>
      <p:sp>
        <p:nvSpPr>
          <p:cNvPr id="134" name="robustness-table-r2t2">
            <a:extLst xmlns:a="http://schemas.openxmlformats.org/drawingml/2006/main">
              <a:ext uri="{FF2B5EF4-FFF2-40B4-BE49-F238E27FC236}">
                <a16:creationId xmlns:a16="http://schemas.microsoft.com/office/drawing/2014/main" id="{3FD6ED7E-10F6-4495-92A8-E0FE5344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140" y="17350477"/>
            <a:ext cx="4386692" cy="598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Haar/LBF degrade off-frontal.</a:t>
            </a:r>
          </a:p>
        </p:txBody>
      </p:sp>
      <p:sp>
        <p:nvSpPr>
          <p:cNvPr id="135" name="robustness-table-r3c1">
            <a:extLst xmlns:a="http://schemas.openxmlformats.org/drawingml/2006/main">
              <a:ext uri="{FF2B5EF4-FFF2-40B4-BE49-F238E27FC236}">
                <a16:creationId xmlns:a16="http://schemas.microsoft.com/office/drawing/2014/main" id="{7D679D3B-4EA0-4BBD-8E0A-5ED4C76D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18009229"/>
            <a:ext cx="1721740" cy="718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36" name="robustness-table-r3c2">
            <a:extLst xmlns:a="http://schemas.openxmlformats.org/drawingml/2006/main">
              <a:ext uri="{FF2B5EF4-FFF2-40B4-BE49-F238E27FC236}">
                <a16:creationId xmlns:a16="http://schemas.microsoft.com/office/drawing/2014/main" id="{EB16DF06-166D-4C68-BD98-DADAD003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339" y="18009229"/>
            <a:ext cx="4566352" cy="718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37" name="robustness-table-r3t1">
            <a:extLst xmlns:a="http://schemas.openxmlformats.org/drawingml/2006/main">
              <a:ext uri="{FF2B5EF4-FFF2-40B4-BE49-F238E27FC236}">
                <a16:creationId xmlns:a16="http://schemas.microsoft.com/office/drawing/2014/main" id="{266A4F12-4DAD-4B7B-A305-FC02EF80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0" y="18069115"/>
            <a:ext cx="1542080" cy="598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Occlusion</a:t>
            </a:r>
          </a:p>
        </p:txBody>
      </p:sp>
      <p:sp>
        <p:nvSpPr>
          <p:cNvPr id="138" name="robustness-table-r3t2">
            <a:extLst xmlns:a="http://schemas.openxmlformats.org/drawingml/2006/main">
              <a:ext uri="{FF2B5EF4-FFF2-40B4-BE49-F238E27FC236}">
                <a16:creationId xmlns:a16="http://schemas.microsoft.com/office/drawing/2014/main" id="{B8BFE7AD-EB99-45A5-B874-6FDAA067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140" y="18069115"/>
            <a:ext cx="4386692" cy="598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Covered features distort landmarks.</a:t>
            </a:r>
          </a:p>
        </p:txBody>
      </p:sp>
      <p:sp>
        <p:nvSpPr>
          <p:cNvPr id="139" name="robustness-table-r4c1">
            <a:extLst xmlns:a="http://schemas.openxmlformats.org/drawingml/2006/main">
              <a:ext uri="{FF2B5EF4-FFF2-40B4-BE49-F238E27FC236}">
                <a16:creationId xmlns:a16="http://schemas.microsoft.com/office/drawing/2014/main" id="{8ADD1317-FC3D-49BE-949A-A53C6277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18727870"/>
            <a:ext cx="1721740" cy="6437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40" name="robustness-table-r4c2">
            <a:extLst xmlns:a="http://schemas.openxmlformats.org/drawingml/2006/main">
              <a:ext uri="{FF2B5EF4-FFF2-40B4-BE49-F238E27FC236}">
                <a16:creationId xmlns:a16="http://schemas.microsoft.com/office/drawing/2014/main" id="{F51EC03C-559C-4149-8CB8-75129DC3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339" y="18727870"/>
            <a:ext cx="4566352" cy="6437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41" name="robustness-table-r4t1">
            <a:extLst xmlns:a="http://schemas.openxmlformats.org/drawingml/2006/main">
              <a:ext uri="{FF2B5EF4-FFF2-40B4-BE49-F238E27FC236}">
                <a16:creationId xmlns:a16="http://schemas.microsoft.com/office/drawing/2014/main" id="{AF6F9E71-9B85-479A-81C4-B1A41FD3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0" y="18787756"/>
            <a:ext cx="1542080" cy="524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Fast motion</a:t>
            </a:r>
          </a:p>
        </p:txBody>
      </p:sp>
      <p:sp>
        <p:nvSpPr>
          <p:cNvPr id="142" name="robustness-table-r4t2">
            <a:extLst xmlns:a="http://schemas.openxmlformats.org/drawingml/2006/main">
              <a:ext uri="{FF2B5EF4-FFF2-40B4-BE49-F238E27FC236}">
                <a16:creationId xmlns:a16="http://schemas.microsoft.com/office/drawing/2014/main" id="{CEBF2BDE-0A07-4EA9-B637-F4A5F166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140" y="18787756"/>
            <a:ext cx="4386692" cy="524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Blur and jitter need smoothing.</a:t>
            </a:r>
          </a:p>
        </p:txBody>
      </p:sp>
      <p:sp>
        <p:nvSpPr>
          <p:cNvPr id="143" name="detector-lesson-bg">
            <a:extLst xmlns:a="http://schemas.openxmlformats.org/drawingml/2006/main">
              <a:ext uri="{FF2B5EF4-FFF2-40B4-BE49-F238E27FC236}">
                <a16:creationId xmlns:a16="http://schemas.microsoft.com/office/drawing/2014/main" id="{6FC6B3CA-CB69-432F-9AA8-5CABEB75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19536336"/>
            <a:ext cx="6288092" cy="9581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etector-lesson-accent">
            <a:extLst xmlns:a="http://schemas.openxmlformats.org/drawingml/2006/main">
              <a:ext uri="{FF2B5EF4-FFF2-40B4-BE49-F238E27FC236}">
                <a16:creationId xmlns:a16="http://schemas.microsoft.com/office/drawing/2014/main" id="{4C1BA0FB-86D2-426C-8AC0-A93A0779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19536336"/>
            <a:ext cx="59886" cy="9581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etector-lesson-text">
            <a:extLst xmlns:a="http://schemas.openxmlformats.org/drawingml/2006/main">
              <a:ext uri="{FF2B5EF4-FFF2-40B4-BE49-F238E27FC236}">
                <a16:creationId xmlns:a16="http://schemas.microsoft.com/office/drawing/2014/main" id="{88703D24-6849-4435-8597-7EF5F21A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1" y="19656111"/>
            <a:ext cx="5943745" cy="748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4F4A3C"/>
                </a:solidFill>
              </a:defRPr>
            </a:pPr>
            <a:r>
              <a:rPr sz="2000" b="0" i="0">
                <a:solidFill>
                  <a:srgbClr val="4F4A3C"/>
                </a:solidFill>
              </a:rPr>
              <a:t>Practical lesson. A missed face box cannot be recovered by the landmark stage.</a:t>
            </a:r>
          </a:p>
        </p:txBody>
      </p:sp>
      <p:sp>
        <p:nvSpPr>
          <p:cNvPr id="146" name="why-keypoints-bar">
            <a:extLst xmlns:a="http://schemas.openxmlformats.org/drawingml/2006/main">
              <a:ext uri="{FF2B5EF4-FFF2-40B4-BE49-F238E27FC236}">
                <a16:creationId xmlns:a16="http://schemas.microsoft.com/office/drawing/2014/main" id="{E3C2ACF8-B131-4E43-895E-E9BFB23D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20719099"/>
            <a:ext cx="628809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why-keypoints-accent">
            <a:extLst xmlns:a="http://schemas.openxmlformats.org/drawingml/2006/main">
              <a:ext uri="{FF2B5EF4-FFF2-40B4-BE49-F238E27FC236}">
                <a16:creationId xmlns:a16="http://schemas.microsoft.com/office/drawing/2014/main" id="{8417271D-CD11-40DE-8932-B1C1EA7C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20719099"/>
            <a:ext cx="10480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why-keypoints-title">
            <a:extLst xmlns:a="http://schemas.openxmlformats.org/drawingml/2006/main">
              <a:ext uri="{FF2B5EF4-FFF2-40B4-BE49-F238E27FC236}">
                <a16:creationId xmlns:a16="http://schemas.microsoft.com/office/drawing/2014/main" id="{FBEB4C9F-955E-462D-A432-8E5BDD69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74" y="20749042"/>
            <a:ext cx="5988661" cy="44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</a:defRPr>
            </a:pPr>
            <a:r>
              <a:rPr sz="3000" b="1" i="0">
                <a:solidFill>
                  <a:srgbClr val="17365D"/>
                </a:solidFill>
              </a:rPr>
              <a:t>2. Why Use Keypoints?</a:t>
            </a:r>
          </a:p>
        </p:txBody>
      </p:sp>
      <p:sp>
        <p:nvSpPr>
          <p:cNvPr id="149" name="why-keypoints-copy">
            <a:extLst xmlns:a="http://schemas.openxmlformats.org/drawingml/2006/main">
              <a:ext uri="{FF2B5EF4-FFF2-40B4-BE49-F238E27FC236}">
                <a16:creationId xmlns:a16="http://schemas.microsoft.com/office/drawing/2014/main" id="{C91BE8E6-C2FB-4FAD-AF28-B085A980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41" y="21332935"/>
            <a:ext cx="6228207" cy="122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Normalised landmark geometry replaces raw pixels, reducing input size and background bias while keeping prediction below the 30 ms target.</a:t>
            </a:r>
          </a:p>
        </p:txBody>
      </p:sp>
      <p:sp>
        <p:nvSpPr>
          <p:cNvPr id="150" name="feature-table-r0c1">
            <a:extLst xmlns:a="http://schemas.openxmlformats.org/drawingml/2006/main">
              <a:ext uri="{FF2B5EF4-FFF2-40B4-BE49-F238E27FC236}">
                <a16:creationId xmlns:a16="http://schemas.microsoft.com/office/drawing/2014/main" id="{6651D3D8-6EBD-4FD0-BD0A-ADD8031E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22680382"/>
            <a:ext cx="2245748" cy="464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51" name="feature-table-r0c2">
            <a:extLst xmlns:a="http://schemas.openxmlformats.org/drawingml/2006/main">
              <a:ext uri="{FF2B5EF4-FFF2-40B4-BE49-F238E27FC236}">
                <a16:creationId xmlns:a16="http://schemas.microsoft.com/office/drawing/2014/main" id="{9AD1AD06-2C2A-4658-AB7F-EA6B203F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346" y="22680382"/>
            <a:ext cx="4042344" cy="464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52" name="feature-table-r0t1">
            <a:extLst xmlns:a="http://schemas.openxmlformats.org/drawingml/2006/main">
              <a:ext uri="{FF2B5EF4-FFF2-40B4-BE49-F238E27FC236}">
                <a16:creationId xmlns:a16="http://schemas.microsoft.com/office/drawing/2014/main" id="{EEDC6CE7-A695-4236-B1D1-ABE0E27D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0" y="22740271"/>
            <a:ext cx="2066088" cy="344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Feature group</a:t>
            </a:r>
          </a:p>
        </p:txBody>
      </p:sp>
      <p:sp>
        <p:nvSpPr>
          <p:cNvPr id="153" name="feature-table-r0t2">
            <a:extLst xmlns:a="http://schemas.openxmlformats.org/drawingml/2006/main">
              <a:ext uri="{FF2B5EF4-FFF2-40B4-BE49-F238E27FC236}">
                <a16:creationId xmlns:a16="http://schemas.microsoft.com/office/drawing/2014/main" id="{CD4D841D-9BEB-4D00-B58A-4A41A0E5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148" y="22740271"/>
            <a:ext cx="3862684" cy="344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Dimension / role</a:t>
            </a:r>
          </a:p>
        </p:txBody>
      </p:sp>
      <p:sp>
        <p:nvSpPr>
          <p:cNvPr id="154" name="feature-table-r1c1">
            <a:extLst xmlns:a="http://schemas.openxmlformats.org/drawingml/2006/main">
              <a:ext uri="{FF2B5EF4-FFF2-40B4-BE49-F238E27FC236}">
                <a16:creationId xmlns:a16="http://schemas.microsoft.com/office/drawing/2014/main" id="{EE9E7649-0B75-40CA-933E-A75C6091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23144504"/>
            <a:ext cx="2245748" cy="583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55" name="feature-table-r1c2">
            <a:extLst xmlns:a="http://schemas.openxmlformats.org/drawingml/2006/main">
              <a:ext uri="{FF2B5EF4-FFF2-40B4-BE49-F238E27FC236}">
                <a16:creationId xmlns:a16="http://schemas.microsoft.com/office/drawing/2014/main" id="{5B0B4D0C-363B-48F5-BBE0-B79DCB63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346" y="23144504"/>
            <a:ext cx="4042344" cy="583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56" name="feature-table-r1t1">
            <a:extLst xmlns:a="http://schemas.openxmlformats.org/drawingml/2006/main">
              <a:ext uri="{FF2B5EF4-FFF2-40B4-BE49-F238E27FC236}">
                <a16:creationId xmlns:a16="http://schemas.microsoft.com/office/drawing/2014/main" id="{951B8CE5-73D0-4AED-B5C3-F8A7FD5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0" y="23204390"/>
            <a:ext cx="2066088" cy="464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Normalised x/y</a:t>
            </a:r>
          </a:p>
        </p:txBody>
      </p:sp>
      <p:sp>
        <p:nvSpPr>
          <p:cNvPr id="157" name="feature-table-r1t2">
            <a:extLst xmlns:a="http://schemas.openxmlformats.org/drawingml/2006/main">
              <a:ext uri="{FF2B5EF4-FFF2-40B4-BE49-F238E27FC236}">
                <a16:creationId xmlns:a16="http://schemas.microsoft.com/office/drawing/2014/main" id="{4C1D1247-1F26-49CB-B87E-8A5D6511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148" y="23204390"/>
            <a:ext cx="3862684" cy="464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136 values (68 × x/y)</a:t>
            </a:r>
          </a:p>
        </p:txBody>
      </p:sp>
      <p:sp>
        <p:nvSpPr>
          <p:cNvPr id="158" name="feature-table-r2c1">
            <a:extLst xmlns:a="http://schemas.openxmlformats.org/drawingml/2006/main">
              <a:ext uri="{FF2B5EF4-FFF2-40B4-BE49-F238E27FC236}">
                <a16:creationId xmlns:a16="http://schemas.microsoft.com/office/drawing/2014/main" id="{00890D54-66E3-468D-8032-CCC2C31C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23728398"/>
            <a:ext cx="2245748" cy="7785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59" name="feature-table-r2c2">
            <a:extLst xmlns:a="http://schemas.openxmlformats.org/drawingml/2006/main">
              <a:ext uri="{FF2B5EF4-FFF2-40B4-BE49-F238E27FC236}">
                <a16:creationId xmlns:a16="http://schemas.microsoft.com/office/drawing/2014/main" id="{8AB214C4-5AC6-4806-8612-4F95DE6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346" y="23728398"/>
            <a:ext cx="4042344" cy="7785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60" name="feature-table-r2t1">
            <a:extLst xmlns:a="http://schemas.openxmlformats.org/drawingml/2006/main">
              <a:ext uri="{FF2B5EF4-FFF2-40B4-BE49-F238E27FC236}">
                <a16:creationId xmlns:a16="http://schemas.microsoft.com/office/drawing/2014/main" id="{9FE54BF1-5779-4FB6-80AA-03DAF994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0" y="23788287"/>
            <a:ext cx="2066088" cy="658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Geometry features</a:t>
            </a:r>
          </a:p>
        </p:txBody>
      </p:sp>
      <p:sp>
        <p:nvSpPr>
          <p:cNvPr id="161" name="feature-table-r2t2">
            <a:extLst xmlns:a="http://schemas.openxmlformats.org/drawingml/2006/main">
              <a:ext uri="{FF2B5EF4-FFF2-40B4-BE49-F238E27FC236}">
                <a16:creationId xmlns:a16="http://schemas.microsoft.com/office/drawing/2014/main" id="{65C6CDB4-40EF-4F67-8BE0-A2C16198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148" y="23788287"/>
            <a:ext cx="3862684" cy="658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38 distances, ratios and regional shape cues</a:t>
            </a:r>
          </a:p>
        </p:txBody>
      </p:sp>
      <p:sp>
        <p:nvSpPr>
          <p:cNvPr id="162" name="feature-table-r3c1">
            <a:extLst xmlns:a="http://schemas.openxmlformats.org/drawingml/2006/main">
              <a:ext uri="{FF2B5EF4-FFF2-40B4-BE49-F238E27FC236}">
                <a16:creationId xmlns:a16="http://schemas.microsoft.com/office/drawing/2014/main" id="{F0E5D586-9562-45DF-931C-943EBB79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24506924"/>
            <a:ext cx="2245748" cy="583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63" name="feature-table-r3c2">
            <a:extLst xmlns:a="http://schemas.openxmlformats.org/drawingml/2006/main">
              <a:ext uri="{FF2B5EF4-FFF2-40B4-BE49-F238E27FC236}">
                <a16:creationId xmlns:a16="http://schemas.microsoft.com/office/drawing/2014/main" id="{FCFA5555-9784-45C0-81B0-CD494DBF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346" y="24506924"/>
            <a:ext cx="4042344" cy="583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973">
            <a:solidFill>
              <a:srgbClr val="CFCBD1"/>
            </a:solidFill>
            <a:prstDash val="solid"/>
          </a:ln>
        </p:spPr>
      </p:sp>
      <p:sp>
        <p:nvSpPr>
          <p:cNvPr id="164" name="feature-table-r3t1">
            <a:extLst xmlns:a="http://schemas.openxmlformats.org/drawingml/2006/main">
              <a:ext uri="{FF2B5EF4-FFF2-40B4-BE49-F238E27FC236}">
                <a16:creationId xmlns:a16="http://schemas.microsoft.com/office/drawing/2014/main" id="{B7C51461-4366-46A5-AD90-5ECC0CCB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0" y="24566810"/>
            <a:ext cx="2066088" cy="464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Total input</a:t>
            </a:r>
          </a:p>
        </p:txBody>
      </p:sp>
      <p:sp>
        <p:nvSpPr>
          <p:cNvPr id="165" name="feature-table-r3t2">
            <a:extLst xmlns:a="http://schemas.openxmlformats.org/drawingml/2006/main">
              <a:ext uri="{FF2B5EF4-FFF2-40B4-BE49-F238E27FC236}">
                <a16:creationId xmlns:a16="http://schemas.microsoft.com/office/drawing/2014/main" id="{75AF3E58-9363-4232-868B-C116F5F1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148" y="24566810"/>
            <a:ext cx="3862684" cy="464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174 keypoint-derived features</a:t>
            </a:r>
          </a:p>
        </p:txBody>
      </p:sp>
      <p:sp>
        <p:nvSpPr>
          <p:cNvPr id="169" name="discussion-rule">
            <a:extLst xmlns:a="http://schemas.openxmlformats.org/drawingml/2006/main">
              <a:ext uri="{FF2B5EF4-FFF2-40B4-BE49-F238E27FC236}">
                <a16:creationId xmlns:a16="http://schemas.microsoft.com/office/drawing/2014/main" id="{A33E98E8-3BE1-4671-BB78-0D6D1529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25873584"/>
            <a:ext cx="6288092" cy="29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iscussion-bar">
            <a:extLst xmlns:a="http://schemas.openxmlformats.org/drawingml/2006/main">
              <a:ext uri="{FF2B5EF4-FFF2-40B4-BE49-F238E27FC236}">
                <a16:creationId xmlns:a16="http://schemas.microsoft.com/office/drawing/2014/main" id="{AF88774D-1247-4C0A-A341-82D5A128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26038271"/>
            <a:ext cx="628809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iscussion-accent">
            <a:extLst xmlns:a="http://schemas.openxmlformats.org/drawingml/2006/main">
              <a:ext uri="{FF2B5EF4-FFF2-40B4-BE49-F238E27FC236}">
                <a16:creationId xmlns:a16="http://schemas.microsoft.com/office/drawing/2014/main" id="{F64C5AEE-11AA-4F96-9699-CAE9DF88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26038271"/>
            <a:ext cx="10480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9B6F2D52-C982-4181-96C1-15A6D38C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74" y="26068214"/>
            <a:ext cx="5988661" cy="44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Discussion and Limitations</a:t>
            </a:r>
          </a:p>
        </p:txBody>
      </p:sp>
      <p:sp>
        <p:nvSpPr>
          <p:cNvPr id="173" name="discussion-copy">
            <a:extLst xmlns:a="http://schemas.openxmlformats.org/drawingml/2006/main">
              <a:ext uri="{FF2B5EF4-FFF2-40B4-BE49-F238E27FC236}">
                <a16:creationId xmlns:a16="http://schemas.microsoft.com/office/drawing/2014/main" id="{C3C860F0-E27E-417B-95DC-FB93A936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41" y="26667080"/>
            <a:ext cx="6228207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Pose, blur and occlusion remain difficult.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Landmark geometry omits texture.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Partial bodies weaken movement scoring.</a:t>
            </a:r>
          </a:p>
        </p:txBody>
      </p:sp>
      <p:sp>
        <p:nvSpPr>
          <p:cNvPr id="174" name="expression-bar">
            <a:extLst xmlns:a="http://schemas.openxmlformats.org/drawingml/2006/main">
              <a:ext uri="{FF2B5EF4-FFF2-40B4-BE49-F238E27FC236}">
                <a16:creationId xmlns:a16="http://schemas.microsoft.com/office/drawing/2014/main" id="{972C4750-B513-44BA-AAE9-8653B0A5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10942610"/>
            <a:ext cx="5958715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expression-accent">
            <a:extLst xmlns:a="http://schemas.openxmlformats.org/drawingml/2006/main">
              <a:ext uri="{FF2B5EF4-FFF2-40B4-BE49-F238E27FC236}">
                <a16:creationId xmlns:a16="http://schemas.microsoft.com/office/drawing/2014/main" id="{D11C7AB1-8B44-4B55-94C7-E6CEE28E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10942610"/>
            <a:ext cx="10480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expression-title">
            <a:extLst xmlns:a="http://schemas.openxmlformats.org/drawingml/2006/main">
              <a:ext uri="{FF2B5EF4-FFF2-40B4-BE49-F238E27FC236}">
                <a16:creationId xmlns:a16="http://schemas.microsoft.com/office/drawing/2014/main" id="{84117067-875D-4AEB-8861-B453F516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7049" y="10957582"/>
            <a:ext cx="5883861" cy="44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00" b="1" i="0">
                <a:solidFill>
                  <a:srgbClr val="17365D"/>
                </a:solidFill>
              </a:defRPr>
            </a:pPr>
            <a:r>
              <a:rPr sz="2800" b="1" i="0">
                <a:solidFill>
                  <a:srgbClr val="17365D"/>
                </a:solidFill>
              </a:rPr>
              <a:t>3. Expression Recognition</a:t>
            </a:r>
          </a:p>
        </p:txBody>
      </p:sp>
      <p:sp>
        <p:nvSpPr>
          <p:cNvPr id="177" name="expression-copy">
            <a:extLst xmlns:a="http://schemas.openxmlformats.org/drawingml/2006/main">
              <a:ext uri="{FF2B5EF4-FFF2-40B4-BE49-F238E27FC236}">
                <a16:creationId xmlns:a16="http://schemas.microsoft.com/office/drawing/2014/main" id="{FA84F0F6-B145-40A0-B1C2-AEC3943C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301" y="11676221"/>
            <a:ext cx="5928772" cy="1332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Landmarks are extracted from the official FER-style train/test split. Model selection is restricted to the training split; the official test split is used once for final evaluation.</a:t>
            </a:r>
          </a:p>
        </p:txBody>
      </p:sp>
      <p:sp>
        <p:nvSpPr>
          <p:cNvPr id="178" name="training-title">
            <a:extLst xmlns:a="http://schemas.openxmlformats.org/drawingml/2006/main">
              <a:ext uri="{FF2B5EF4-FFF2-40B4-BE49-F238E27FC236}">
                <a16:creationId xmlns:a16="http://schemas.microsoft.com/office/drawing/2014/main" id="{003C2D3C-7768-4731-B692-A98FE70C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13113500"/>
            <a:ext cx="5958715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B3D6E"/>
                </a:solidFill>
              </a:defRPr>
            </a:pPr>
            <a:r>
              <a:rPr sz="2400" b="1" i="0">
                <a:solidFill>
                  <a:srgbClr val="5B3D6E"/>
                </a:solidFill>
              </a:rPr>
              <a:t>Training and model selection</a:t>
            </a:r>
          </a:p>
        </p:txBody>
      </p:sp>
      <p:sp>
        <p:nvSpPr>
          <p:cNvPr id="179" name="training-copy">
            <a:extLst xmlns:a="http://schemas.openxmlformats.org/drawingml/2006/main">
              <a:ext uri="{FF2B5EF4-FFF2-40B4-BE49-F238E27FC236}">
                <a16:creationId xmlns:a16="http://schemas.microsoft.com/office/drawing/2014/main" id="{E6DEB83A-BF84-473D-9AA3-92661C6B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301" y="13562649"/>
            <a:ext cx="5928772" cy="2021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Seven classes; 174 keypoint-derived features.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PCA benchmarked as a controlled comparison.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Selection prioritises Macro-F1, class balance and latency.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Final model: class-balanced RBF-SVM.</a:t>
            </a:r>
          </a:p>
        </p:txBody>
      </p:sp>
      <p:pic>
        <p:nvPicPr>
          <p:cNvPr id="340" name="图片 3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f237e137d4839"/>
          <a:stretch xmlns:a="http://schemas.openxmlformats.org/drawingml/2006/main"/>
        </p:blipFill>
        <p:spPr>
          <a:xfrm xmlns:a="http://schemas.openxmlformats.org/drawingml/2006/main">
            <a:off x="8595969" y="15703595"/>
            <a:ext cx="4491493" cy="1946313"/>
          </a:xfrm>
          <a:prstGeom xmlns:a="http://schemas.openxmlformats.org/drawingml/2006/main" prst="rect">
            <a:avLst/>
          </a:prstGeom>
        </p:spPr>
      </p:pic>
      <p:sp>
        <p:nvSpPr>
          <p:cNvPr id="181" name="effects-caption">
            <a:extLst xmlns:a="http://schemas.openxmlformats.org/drawingml/2006/main">
              <a:ext uri="{FF2B5EF4-FFF2-40B4-BE49-F238E27FC236}">
                <a16:creationId xmlns:a16="http://schemas.microsoft.com/office/drawing/2014/main" id="{377778EF-6B92-44A9-B61D-275F61C0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17709797"/>
            <a:ext cx="5958715" cy="404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00" b="0" i="0">
                <a:solidFill>
                  <a:srgbClr val="686D75"/>
                </a:solidFill>
              </a:defRPr>
            </a:pPr>
            <a:r>
              <a:rPr sz="1700" b="0" i="0">
                <a:solidFill>
                  <a:srgbClr val="686D75"/>
                </a:solidFill>
              </a:rPr>
              <a:t>Fig. 2. Seven live effects with label and confidence.</a:t>
            </a:r>
          </a:p>
        </p:txBody>
      </p:sp>
      <p:sp>
        <p:nvSpPr>
          <p:cNvPr id="182" name="expression-metrics-top">
            <a:extLst xmlns:a="http://schemas.openxmlformats.org/drawingml/2006/main">
              <a:ext uri="{FF2B5EF4-FFF2-40B4-BE49-F238E27FC236}">
                <a16:creationId xmlns:a16="http://schemas.microsoft.com/office/drawing/2014/main" id="{2980C091-8F2C-4809-B3B1-558B6F9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18218832"/>
            <a:ext cx="5958715" cy="29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expression-metrics-bottom">
            <a:extLst xmlns:a="http://schemas.openxmlformats.org/drawingml/2006/main">
              <a:ext uri="{FF2B5EF4-FFF2-40B4-BE49-F238E27FC236}">
                <a16:creationId xmlns:a16="http://schemas.microsoft.com/office/drawing/2014/main" id="{2B8AB96A-F73F-4827-9724-E8D9D187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19162046"/>
            <a:ext cx="5958715" cy="14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expression-metrics-value-0">
            <a:extLst xmlns:a="http://schemas.openxmlformats.org/drawingml/2006/main">
              <a:ext uri="{FF2B5EF4-FFF2-40B4-BE49-F238E27FC236}">
                <a16:creationId xmlns:a16="http://schemas.microsoft.com/office/drawing/2014/main" id="{B8FF19BD-CFA8-4077-872E-AFD512AF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160" y="18338607"/>
            <a:ext cx="1776635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0" b="1" i="0">
                <a:solidFill>
                  <a:srgbClr val="17365D"/>
                </a:solidFill>
              </a:defRPr>
            </a:pPr>
            <a:r>
              <a:rPr sz="2800" b="1" i="0">
                <a:solidFill>
                  <a:srgbClr val="17365D"/>
                </a:solidFill>
              </a:rPr>
              <a:t>47.31%</a:t>
            </a:r>
          </a:p>
        </p:txBody>
      </p:sp>
      <p:sp>
        <p:nvSpPr>
          <p:cNvPr id="185" name="expression-metrics-label-0">
            <a:extLst xmlns:a="http://schemas.openxmlformats.org/drawingml/2006/main">
              <a:ext uri="{FF2B5EF4-FFF2-40B4-BE49-F238E27FC236}">
                <a16:creationId xmlns:a16="http://schemas.microsoft.com/office/drawing/2014/main" id="{0E3C34D3-7A60-49E7-9C5D-314EE16B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160" y="18742840"/>
            <a:ext cx="1776635" cy="29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00" b="0" i="0">
                <a:solidFill>
                  <a:srgbClr val="60656D"/>
                </a:solidFill>
              </a:defRPr>
            </a:pPr>
            <a:r>
              <a:rPr sz="1700" b="0" i="0">
                <a:solidFill>
                  <a:srgbClr val="60656D"/>
                </a:solidFill>
              </a:rPr>
              <a:t>test accuracy</a:t>
            </a:r>
          </a:p>
        </p:txBody>
      </p:sp>
      <p:sp>
        <p:nvSpPr>
          <p:cNvPr id="186" name="expression-metrics-divider-1">
            <a:extLst xmlns:a="http://schemas.openxmlformats.org/drawingml/2006/main">
              <a:ext uri="{FF2B5EF4-FFF2-40B4-BE49-F238E27FC236}">
                <a16:creationId xmlns:a16="http://schemas.microsoft.com/office/drawing/2014/main" id="{CEB6493D-8E34-4DAE-959E-940C0BD6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597" y="18338607"/>
            <a:ext cx="14973" cy="718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expression-metrics-value-1">
            <a:extLst xmlns:a="http://schemas.openxmlformats.org/drawingml/2006/main">
              <a:ext uri="{FF2B5EF4-FFF2-40B4-BE49-F238E27FC236}">
                <a16:creationId xmlns:a16="http://schemas.microsoft.com/office/drawing/2014/main" id="{191620B7-3B3F-4CF0-9358-7BAFF6C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98" y="18338607"/>
            <a:ext cx="1776635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0" b="1" i="0">
                <a:solidFill>
                  <a:srgbClr val="17365D"/>
                </a:solidFill>
              </a:defRPr>
            </a:pPr>
            <a:r>
              <a:rPr sz="2800" b="1" i="0">
                <a:solidFill>
                  <a:srgbClr val="17365D"/>
                </a:solidFill>
              </a:rPr>
              <a:t>46.33%</a:t>
            </a:r>
          </a:p>
        </p:txBody>
      </p:sp>
      <p:sp>
        <p:nvSpPr>
          <p:cNvPr id="188" name="expression-metrics-label-1">
            <a:extLst xmlns:a="http://schemas.openxmlformats.org/drawingml/2006/main">
              <a:ext uri="{FF2B5EF4-FFF2-40B4-BE49-F238E27FC236}">
                <a16:creationId xmlns:a16="http://schemas.microsoft.com/office/drawing/2014/main" id="{2F6A0A96-DE83-4A6C-AD36-0953AB2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98" y="18742840"/>
            <a:ext cx="1776635" cy="29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00" b="0" i="0">
                <a:solidFill>
                  <a:srgbClr val="60656D"/>
                </a:solidFill>
              </a:defRPr>
            </a:pPr>
            <a:r>
              <a:rPr sz="1700" b="0" i="0">
                <a:solidFill>
                  <a:srgbClr val="60656D"/>
                </a:solidFill>
              </a:rPr>
              <a:t>Macro-F1</a:t>
            </a:r>
          </a:p>
        </p:txBody>
      </p:sp>
      <p:sp>
        <p:nvSpPr>
          <p:cNvPr id="189" name="expression-metrics-divider-2">
            <a:extLst xmlns:a="http://schemas.openxmlformats.org/drawingml/2006/main">
              <a:ext uri="{FF2B5EF4-FFF2-40B4-BE49-F238E27FC236}">
                <a16:creationId xmlns:a16="http://schemas.microsoft.com/office/drawing/2014/main" id="{06F81B68-76C5-42D6-8511-4BAB2BF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4835" y="18338607"/>
            <a:ext cx="14973" cy="718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expression-metrics-value-2">
            <a:extLst xmlns:a="http://schemas.openxmlformats.org/drawingml/2006/main">
              <a:ext uri="{FF2B5EF4-FFF2-40B4-BE49-F238E27FC236}">
                <a16:creationId xmlns:a16="http://schemas.microsoft.com/office/drawing/2014/main" id="{4F7D85D9-BACE-41C5-92C1-5467B9AA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9636" y="18338607"/>
            <a:ext cx="1776635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0" b="1" i="0">
                <a:solidFill>
                  <a:srgbClr val="17365D"/>
                </a:solidFill>
              </a:defRPr>
            </a:pPr>
            <a:r>
              <a:rPr sz="2800" b="1" i="0">
                <a:solidFill>
                  <a:srgbClr val="17365D"/>
                </a:solidFill>
              </a:rPr>
              <a:t>18.08 ms</a:t>
            </a:r>
          </a:p>
        </p:txBody>
      </p:sp>
      <p:sp>
        <p:nvSpPr>
          <p:cNvPr id="191" name="expression-metrics-label-2">
            <a:extLst xmlns:a="http://schemas.openxmlformats.org/drawingml/2006/main">
              <a:ext uri="{FF2B5EF4-FFF2-40B4-BE49-F238E27FC236}">
                <a16:creationId xmlns:a16="http://schemas.microsoft.com/office/drawing/2014/main" id="{99EDC836-29F7-4C8F-91B9-5D64EED0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9636" y="18742840"/>
            <a:ext cx="1776635" cy="29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00" b="0" i="0">
                <a:solidFill>
                  <a:srgbClr val="60656D"/>
                </a:solidFill>
              </a:defRPr>
            </a:pPr>
            <a:r>
              <a:rPr sz="1700" b="0" i="0">
                <a:solidFill>
                  <a:srgbClr val="60656D"/>
                </a:solidFill>
              </a:rPr>
              <a:t>prediction time</a:t>
            </a:r>
          </a:p>
        </p:txBody>
      </p:sp>
      <p:pic>
        <p:nvPicPr>
          <p:cNvPr id="352" name="图片 3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7235e1e9a4571"/>
          <a:stretch xmlns:a="http://schemas.openxmlformats.org/drawingml/2006/main"/>
        </p:blipFill>
        <p:spPr>
          <a:xfrm xmlns:a="http://schemas.openxmlformats.org/drawingml/2006/main">
            <a:off x="7862358" y="19482441"/>
            <a:ext cx="5958715" cy="2383488"/>
          </a:xfrm>
          <a:prstGeom xmlns:a="http://schemas.openxmlformats.org/drawingml/2006/main" prst="rect">
            <a:avLst/>
          </a:prstGeom>
        </p:spPr>
      </p:pic>
      <p:sp>
        <p:nvSpPr>
          <p:cNvPr id="193" name="confusion-caption">
            <a:extLst xmlns:a="http://schemas.openxmlformats.org/drawingml/2006/main">
              <a:ext uri="{FF2B5EF4-FFF2-40B4-BE49-F238E27FC236}">
                <a16:creationId xmlns:a16="http://schemas.microsoft.com/office/drawing/2014/main" id="{85E6BDA6-1566-40AA-ABEF-61D90B3E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22051573"/>
            <a:ext cx="5958715" cy="404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00" b="0" i="0">
                <a:solidFill>
                  <a:srgbClr val="686D75"/>
                </a:solidFill>
              </a:defRPr>
            </a:pPr>
            <a:r>
              <a:rPr sz="1700" b="0" i="0">
                <a:solidFill>
                  <a:srgbClr val="686D75"/>
                </a:solidFill>
              </a:rPr>
              <a:t>Fig. 3. Final confusion matrices; visually similar classes remain difficult to separate.</a:t>
            </a:r>
          </a:p>
        </p:txBody>
      </p:sp>
      <p:sp>
        <p:nvSpPr>
          <p:cNvPr id="194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F9D30EFA-A447-47FE-A9DF-2771BB69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22590554"/>
            <a:ext cx="5958715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B3D6E"/>
                </a:solidFill>
              </a:defRPr>
            </a:pPr>
            <a:r>
              <a:rPr sz="2400" b="1" i="0">
                <a:solidFill>
                  <a:srgbClr val="5B3D6E"/>
                </a:solidFill>
              </a:rPr>
              <a:t>Failure analysis</a:t>
            </a:r>
          </a:p>
        </p:txBody>
      </p:sp>
      <p:pic>
        <p:nvPicPr>
          <p:cNvPr id="355" name="图片 3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a826a6c92424a"/>
          <a:srcRect xmlns:a="http://schemas.openxmlformats.org/drawingml/2006/main" l="0" t="37638" r="0" b="376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2358" y="23024733"/>
            <a:ext cx="5958715" cy="1227676"/>
          </a:xfrm>
          <a:prstGeom xmlns:a="http://schemas.openxmlformats.org/drawingml/2006/main" prst="rect">
            <a:avLst/>
          </a:prstGeom>
        </p:spPr>
      </p:pic>
      <p:sp>
        <p:nvSpPr>
          <p:cNvPr id="196" name="failure-caption">
            <a:extLst xmlns:a="http://schemas.openxmlformats.org/drawingml/2006/main">
              <a:ext uri="{FF2B5EF4-FFF2-40B4-BE49-F238E27FC236}">
                <a16:creationId xmlns:a16="http://schemas.microsoft.com/office/drawing/2014/main" id="{574DADA0-5F39-4CBE-A3F0-52D8EB03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24297321"/>
            <a:ext cx="5958715" cy="404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00" b="0" i="0">
                <a:solidFill>
                  <a:srgbClr val="686D75"/>
                </a:solidFill>
              </a:defRPr>
            </a:pPr>
            <a:r>
              <a:rPr sz="1700" b="0" i="0">
                <a:solidFill>
                  <a:srgbClr val="686D75"/>
                </a:solidFill>
              </a:rPr>
              <a:t>Fig. 4. Typical errors under ambiguity, low contrast, pose and occlusion.</a:t>
            </a:r>
          </a:p>
        </p:txBody>
      </p:sp>
      <p:sp>
        <p:nvSpPr>
          <p:cNvPr id="197" name="expression-interpretation-bg">
            <a:extLst xmlns:a="http://schemas.openxmlformats.org/drawingml/2006/main">
              <a:ext uri="{FF2B5EF4-FFF2-40B4-BE49-F238E27FC236}">
                <a16:creationId xmlns:a16="http://schemas.microsoft.com/office/drawing/2014/main" id="{9910198B-19A3-4381-97AB-463C8076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24821329"/>
            <a:ext cx="5958715" cy="1152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expression-interpretation-accent">
            <a:extLst xmlns:a="http://schemas.openxmlformats.org/drawingml/2006/main">
              <a:ext uri="{FF2B5EF4-FFF2-40B4-BE49-F238E27FC236}">
                <a16:creationId xmlns:a16="http://schemas.microsoft.com/office/drawing/2014/main" id="{06C6B905-78C6-4C07-9CD8-39365050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24821329"/>
            <a:ext cx="59886" cy="1152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expression-interpretation-text">
            <a:extLst xmlns:a="http://schemas.openxmlformats.org/drawingml/2006/main">
              <a:ext uri="{FF2B5EF4-FFF2-40B4-BE49-F238E27FC236}">
                <a16:creationId xmlns:a16="http://schemas.microsoft.com/office/drawing/2014/main" id="{CA467647-C1AD-4813-9CB7-37AC9C78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988" y="24941104"/>
            <a:ext cx="5614367" cy="943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4F4A3C"/>
                </a:solidFill>
              </a:defRPr>
            </a:pPr>
            <a:r>
              <a:rPr sz="2000" b="0" i="0">
                <a:solidFill>
                  <a:srgbClr val="4F4A3C"/>
                </a:solidFill>
              </a:rPr>
              <a:t>Interpretation. Minority and visually similar classes remain the main weakness.</a:t>
            </a:r>
          </a:p>
        </p:txBody>
      </p:sp>
      <p:sp>
        <p:nvSpPr>
          <p:cNvPr id="202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7FC3B730-3C92-4FAF-ABFF-8DF081B8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26381436"/>
            <a:ext cx="5958715" cy="29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conclusion-bar">
            <a:extLst xmlns:a="http://schemas.openxmlformats.org/drawingml/2006/main">
              <a:ext uri="{FF2B5EF4-FFF2-40B4-BE49-F238E27FC236}">
                <a16:creationId xmlns:a16="http://schemas.microsoft.com/office/drawing/2014/main" id="{75CBE8FA-6509-4894-AE9F-73BFB1AC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26546124"/>
            <a:ext cx="5958715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86B24767-2A8B-4DBD-A581-E82E19A5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358" y="26546124"/>
            <a:ext cx="10480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810F39E5-C97C-4260-85A5-A3F8820D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934" y="26576066"/>
            <a:ext cx="5659283" cy="44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Conclusion and Future Work</a:t>
            </a:r>
          </a:p>
        </p:txBody>
      </p:sp>
      <p:sp>
        <p:nvSpPr>
          <p:cNvPr id="206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E085479F-1D7E-4F95-8DBD-A9119378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301" y="27174933"/>
            <a:ext cx="5928772" cy="868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A keypoint-centred design supports three live applications on a laptop. Next steps are Stratified K-fold confirmation, stronger tracking and a multi-user latency study.</a:t>
            </a:r>
          </a:p>
        </p:txBody>
      </p:sp>
      <p:sp>
        <p:nvSpPr>
          <p:cNvPr id="207" name="pose-bar">
            <a:extLst xmlns:a="http://schemas.openxmlformats.org/drawingml/2006/main">
              <a:ext uri="{FF2B5EF4-FFF2-40B4-BE49-F238E27FC236}">
                <a16:creationId xmlns:a16="http://schemas.microsoft.com/office/drawing/2014/main" id="{26CC4297-EA61-4638-B847-771B4ACC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10942610"/>
            <a:ext cx="5988661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ose-accent">
            <a:extLst xmlns:a="http://schemas.openxmlformats.org/drawingml/2006/main">
              <a:ext uri="{FF2B5EF4-FFF2-40B4-BE49-F238E27FC236}">
                <a16:creationId xmlns:a16="http://schemas.microsoft.com/office/drawing/2014/main" id="{7C55506B-DD18-4B90-8348-25FF1ED7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10942610"/>
            <a:ext cx="10480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ose-title">
            <a:extLst xmlns:a="http://schemas.openxmlformats.org/drawingml/2006/main">
              <a:ext uri="{FF2B5EF4-FFF2-40B4-BE49-F238E27FC236}">
                <a16:creationId xmlns:a16="http://schemas.microsoft.com/office/drawing/2014/main" id="{AA1A5BAE-ADAC-4CD8-89C0-EED689B2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6859" y="10978097"/>
            <a:ext cx="5689226" cy="44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00" b="1" i="0">
                <a:solidFill>
                  <a:srgbClr val="17365D"/>
                </a:solidFill>
              </a:defRPr>
            </a:pPr>
            <a:r>
              <a:rPr sz="2800" b="1" i="0">
                <a:solidFill>
                  <a:srgbClr val="17365D"/>
                </a:solidFill>
              </a:rPr>
              <a:t>4. Pose-based Applications</a:t>
            </a:r>
          </a:p>
        </p:txBody>
      </p:sp>
      <p:sp>
        <p:nvSpPr>
          <p:cNvPr id="210" name="pose-copy">
            <a:extLst xmlns:a="http://schemas.openxmlformats.org/drawingml/2006/main">
              <a:ext uri="{FF2B5EF4-FFF2-40B4-BE49-F238E27FC236}">
                <a16:creationId xmlns:a16="http://schemas.microsoft.com/office/drawing/2014/main" id="{49C938AC-2405-4B83-96EC-FB06CE59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684" y="11676221"/>
            <a:ext cx="595871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YOLOv8n Pose provides 17 COCO keypoints for the reference dancer and webcam participant. Metrics below use a 2,680-frame CPU reference run at imgsz=320.</a:t>
            </a:r>
          </a:p>
        </p:txBody>
      </p:sp>
      <p:pic>
        <p:nvPicPr>
          <p:cNvPr id="369" name="图片 38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4c7d5594c47cd"/>
          <a:srcRect xmlns:a="http://schemas.openxmlformats.org/drawingml/2006/main" l="0" t="1667" r="0" b="1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524741" y="13008698"/>
            <a:ext cx="5988661" cy="2170889"/>
          </a:xfrm>
          <a:prstGeom xmlns:a="http://schemas.openxmlformats.org/drawingml/2006/main" prst="rect">
            <a:avLst/>
          </a:prstGeom>
        </p:spPr>
      </p:pic>
      <p:sp>
        <p:nvSpPr>
          <p:cNvPr id="212" name="dance-caption">
            <a:extLst xmlns:a="http://schemas.openxmlformats.org/drawingml/2006/main">
              <a:ext uri="{FF2B5EF4-FFF2-40B4-BE49-F238E27FC236}">
                <a16:creationId xmlns:a16="http://schemas.microsoft.com/office/drawing/2014/main" id="{5A483F01-A6DC-4606-A52F-A3D1A646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15224503"/>
            <a:ext cx="5988661" cy="419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00" b="0" i="0">
                <a:solidFill>
                  <a:srgbClr val="686D75"/>
                </a:solidFill>
              </a:defRPr>
            </a:pPr>
            <a:r>
              <a:rPr sz="1700" b="0" i="0">
                <a:solidFill>
                  <a:srgbClr val="686D75"/>
                </a:solidFill>
              </a:rPr>
              <a:t>Fig. 5. CPU reference run with temporal primary-dancer tracking.</a:t>
            </a:r>
          </a:p>
        </p:txBody>
      </p:sp>
      <p:sp>
        <p:nvSpPr>
          <p:cNvPr id="213" name="pose-metrics-top">
            <a:extLst xmlns:a="http://schemas.openxmlformats.org/drawingml/2006/main">
              <a:ext uri="{FF2B5EF4-FFF2-40B4-BE49-F238E27FC236}">
                <a16:creationId xmlns:a16="http://schemas.microsoft.com/office/drawing/2014/main" id="{9855C199-74E8-46EA-9546-3D512A9A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15763481"/>
            <a:ext cx="5988661" cy="29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ose-metrics-bottom">
            <a:extLst xmlns:a="http://schemas.openxmlformats.org/drawingml/2006/main">
              <a:ext uri="{FF2B5EF4-FFF2-40B4-BE49-F238E27FC236}">
                <a16:creationId xmlns:a16="http://schemas.microsoft.com/office/drawing/2014/main" id="{F0EADF5D-067F-453C-A7B6-95362EFF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16706695"/>
            <a:ext cx="5988661" cy="14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ose-metrics-value-0">
            <a:extLst xmlns:a="http://schemas.openxmlformats.org/drawingml/2006/main">
              <a:ext uri="{FF2B5EF4-FFF2-40B4-BE49-F238E27FC236}">
                <a16:creationId xmlns:a16="http://schemas.microsoft.com/office/drawing/2014/main" id="{AD58CA04-364E-4B59-A4FF-6D38973F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9542" y="15883255"/>
            <a:ext cx="1786617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0" b="1" i="0">
                <a:solidFill>
                  <a:srgbClr val="17365D"/>
                </a:solidFill>
              </a:defRPr>
            </a:pPr>
            <a:r>
              <a:rPr sz="2800" b="1" i="0">
                <a:solidFill>
                  <a:srgbClr val="17365D"/>
                </a:solidFill>
              </a:rPr>
              <a:t>91.16%</a:t>
            </a:r>
          </a:p>
        </p:txBody>
      </p:sp>
      <p:sp>
        <p:nvSpPr>
          <p:cNvPr id="216" name="pose-metrics-label-0">
            <a:extLst xmlns:a="http://schemas.openxmlformats.org/drawingml/2006/main">
              <a:ext uri="{FF2B5EF4-FFF2-40B4-BE49-F238E27FC236}">
                <a16:creationId xmlns:a16="http://schemas.microsoft.com/office/drawing/2014/main" id="{888B8DD0-C711-4881-809F-B4D2C053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9542" y="16287489"/>
            <a:ext cx="1786617" cy="29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00" b="0" i="0">
                <a:solidFill>
                  <a:srgbClr val="60656D"/>
                </a:solidFill>
              </a:defRPr>
            </a:pPr>
            <a:r>
              <a:rPr sz="1700" b="0" i="0">
                <a:solidFill>
                  <a:srgbClr val="60656D"/>
                </a:solidFill>
              </a:rPr>
              <a:t>dancer detected</a:t>
            </a:r>
          </a:p>
        </p:txBody>
      </p:sp>
      <p:sp>
        <p:nvSpPr>
          <p:cNvPr id="217" name="pose-metrics-divider-1">
            <a:extLst xmlns:a="http://schemas.openxmlformats.org/drawingml/2006/main">
              <a:ext uri="{FF2B5EF4-FFF2-40B4-BE49-F238E27FC236}">
                <a16:creationId xmlns:a16="http://schemas.microsoft.com/office/drawing/2014/main" id="{8E767EB8-7C30-401A-AE0A-F28FB7F4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0961" y="15883255"/>
            <a:ext cx="14973" cy="718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ose-metrics-value-1">
            <a:extLst xmlns:a="http://schemas.openxmlformats.org/drawingml/2006/main">
              <a:ext uri="{FF2B5EF4-FFF2-40B4-BE49-F238E27FC236}">
                <a16:creationId xmlns:a16="http://schemas.microsoft.com/office/drawing/2014/main" id="{CC61CB9D-81CE-4655-A686-FBE88A13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5763" y="15883255"/>
            <a:ext cx="1786617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0" b="1" i="0">
                <a:solidFill>
                  <a:srgbClr val="17365D"/>
                </a:solidFill>
              </a:defRPr>
            </a:pPr>
            <a:r>
              <a:rPr sz="2800" b="1" i="0">
                <a:solidFill>
                  <a:srgbClr val="17365D"/>
                </a:solidFill>
              </a:rPr>
              <a:t>31.40 ms</a:t>
            </a:r>
          </a:p>
        </p:txBody>
      </p:sp>
      <p:sp>
        <p:nvSpPr>
          <p:cNvPr id="219" name="pose-metrics-label-1">
            <a:extLst xmlns:a="http://schemas.openxmlformats.org/drawingml/2006/main">
              <a:ext uri="{FF2B5EF4-FFF2-40B4-BE49-F238E27FC236}">
                <a16:creationId xmlns:a16="http://schemas.microsoft.com/office/drawing/2014/main" id="{8CABC9DF-5C4F-4309-8430-7B68771D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5763" y="16287489"/>
            <a:ext cx="1786617" cy="29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00" b="0" i="0">
                <a:solidFill>
                  <a:srgbClr val="60656D"/>
                </a:solidFill>
              </a:defRPr>
            </a:pPr>
            <a:r>
              <a:rPr sz="1700" b="0" i="0">
                <a:solidFill>
                  <a:srgbClr val="60656D"/>
                </a:solidFill>
              </a:rPr>
              <a:t>pose inference</a:t>
            </a:r>
          </a:p>
        </p:txBody>
      </p:sp>
      <p:sp>
        <p:nvSpPr>
          <p:cNvPr id="220" name="pose-metrics-divider-2">
            <a:extLst xmlns:a="http://schemas.openxmlformats.org/drawingml/2006/main">
              <a:ext uri="{FF2B5EF4-FFF2-40B4-BE49-F238E27FC236}">
                <a16:creationId xmlns:a16="http://schemas.microsoft.com/office/drawing/2014/main" id="{64D7ADB4-B764-4006-BA4F-80A0CC49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7181" y="15883255"/>
            <a:ext cx="14973" cy="718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ose-metrics-value-2">
            <a:extLst xmlns:a="http://schemas.openxmlformats.org/drawingml/2006/main">
              <a:ext uri="{FF2B5EF4-FFF2-40B4-BE49-F238E27FC236}">
                <a16:creationId xmlns:a16="http://schemas.microsoft.com/office/drawing/2014/main" id="{84594DC6-F6A4-43B1-8447-85D78079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1983" y="15883255"/>
            <a:ext cx="1786617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0" b="1" i="0">
                <a:solidFill>
                  <a:srgbClr val="17365D"/>
                </a:solidFill>
              </a:defRPr>
            </a:pPr>
            <a:r>
              <a:rPr sz="2800" b="1" i="0">
                <a:solidFill>
                  <a:srgbClr val="17365D"/>
                </a:solidFill>
              </a:rPr>
              <a:t>23.09 FPS</a:t>
            </a:r>
          </a:p>
        </p:txBody>
      </p:sp>
      <p:sp>
        <p:nvSpPr>
          <p:cNvPr id="222" name="pose-metrics-label-2">
            <a:extLst xmlns:a="http://schemas.openxmlformats.org/drawingml/2006/main">
              <a:ext uri="{FF2B5EF4-FFF2-40B4-BE49-F238E27FC236}">
                <a16:creationId xmlns:a16="http://schemas.microsoft.com/office/drawing/2014/main" id="{C7D61DF4-D65F-49C1-95D4-1FD04D4C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1983" y="16287489"/>
            <a:ext cx="1786617" cy="29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00" b="0" i="0">
                <a:solidFill>
                  <a:srgbClr val="60656D"/>
                </a:solidFill>
              </a:defRPr>
            </a:pPr>
            <a:r>
              <a:rPr sz="1700" b="0" i="0">
                <a:solidFill>
                  <a:srgbClr val="60656D"/>
                </a:solidFill>
              </a:rPr>
              <a:t>processing rate</a:t>
            </a:r>
          </a:p>
        </p:txBody>
      </p:sp>
      <p:sp>
        <p:nvSpPr>
          <p:cNvPr id="223" name="alignment-title">
            <a:extLst xmlns:a="http://schemas.openxmlformats.org/drawingml/2006/main">
              <a:ext uri="{FF2B5EF4-FFF2-40B4-BE49-F238E27FC236}">
                <a16:creationId xmlns:a16="http://schemas.microsoft.com/office/drawing/2014/main" id="{ABD974A2-0C95-4702-B091-5A652E7F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16886355"/>
            <a:ext cx="5988661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B3D6E"/>
                </a:solidFill>
              </a:defRPr>
            </a:pPr>
            <a:r>
              <a:rPr sz="2400" b="1" i="0">
                <a:solidFill>
                  <a:srgbClr val="5B3D6E"/>
                </a:solidFill>
              </a:rPr>
              <a:t>Spatial and temporal alignment</a:t>
            </a:r>
          </a:p>
        </p:txBody>
      </p:sp>
      <p:sp>
        <p:nvSpPr>
          <p:cNvPr id="224" name="alignment-copy">
            <a:extLst xmlns:a="http://schemas.openxmlformats.org/drawingml/2006/main">
              <a:ext uri="{FF2B5EF4-FFF2-40B4-BE49-F238E27FC236}">
                <a16:creationId xmlns:a16="http://schemas.microsoft.com/office/drawing/2014/main" id="{28984536-C640-4F75-9560-A9D3A20D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684" y="17335504"/>
            <a:ext cx="5958715" cy="224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Spatial: centre and scale by the torso.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Temporal: search a short reaction-lag window.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Similarity: combine pose geometry and motion.</a:t>
            </a:r>
          </a:p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• Mirror: compare reflected left/right joints.</a:t>
            </a:r>
          </a:p>
        </p:txBody>
      </p:sp>
      <p:sp>
        <p:nvSpPr>
          <p:cNvPr id="225" name="formula-bg">
            <a:extLst xmlns:a="http://schemas.openxmlformats.org/drawingml/2006/main">
              <a:ext uri="{FF2B5EF4-FFF2-40B4-BE49-F238E27FC236}">
                <a16:creationId xmlns:a16="http://schemas.microsoft.com/office/drawing/2014/main" id="{40856EA5-4E2A-4DE5-B207-AA86EDE9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19027300"/>
            <a:ext cx="5988661" cy="7336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4973">
            <a:solidFill>
              <a:srgbClr val="D3C8DB"/>
            </a:solidFill>
            <a:prstDash val="solid"/>
          </a:ln>
        </p:spPr>
      </p:sp>
      <p:sp>
        <p:nvSpPr>
          <p:cNvPr id="226" name="formula">
            <a:extLst xmlns:a="http://schemas.openxmlformats.org/drawingml/2006/main">
              <a:ext uri="{FF2B5EF4-FFF2-40B4-BE49-F238E27FC236}">
                <a16:creationId xmlns:a16="http://schemas.microsoft.com/office/drawing/2014/main" id="{AEA98FD3-25A8-42DF-ACEF-AC996155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4458" y="19191991"/>
            <a:ext cx="5689226" cy="404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00" b="0" i="0">
                <a:solidFill>
                  <a:srgbClr val="17365D"/>
                </a:solidFill>
              </a:defRPr>
            </a:pPr>
            <a:r>
              <a:rPr sz="2200" b="0" i="0">
                <a:solidFill>
                  <a:srgbClr val="17365D"/>
                </a:solidFill>
              </a:rPr>
              <a:t>Active score = 0.55 × Pose + 0.45 × Motion</a:t>
            </a:r>
          </a:p>
        </p:txBody>
      </p:sp>
      <p:sp>
        <p:nvSpPr>
          <p:cNvPr id="227" name="feedback-title">
            <a:extLst xmlns:a="http://schemas.openxmlformats.org/drawingml/2006/main">
              <a:ext uri="{FF2B5EF4-FFF2-40B4-BE49-F238E27FC236}">
                <a16:creationId xmlns:a16="http://schemas.microsoft.com/office/drawing/2014/main" id="{54C03FA8-C5D2-4A2E-A627-E8A0FA8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19895656"/>
            <a:ext cx="5988661" cy="37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5B3D6E"/>
                </a:solidFill>
              </a:defRPr>
            </a:pPr>
            <a:r>
              <a:rPr sz="2400" b="1" i="0">
                <a:solidFill>
                  <a:srgbClr val="5B3D6E"/>
                </a:solidFill>
              </a:rPr>
              <a:t>Feedback design</a:t>
            </a:r>
          </a:p>
        </p:txBody>
      </p:sp>
      <p:sp>
        <p:nvSpPr>
          <p:cNvPr id="228" name="feedback-copy">
            <a:extLst xmlns:a="http://schemas.openxmlformats.org/drawingml/2006/main">
              <a:ext uri="{FF2B5EF4-FFF2-40B4-BE49-F238E27FC236}">
                <a16:creationId xmlns:a16="http://schemas.microsoft.com/office/drawing/2014/main" id="{6BE17381-3D98-4299-817E-41DFF39C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684" y="20344808"/>
            <a:ext cx="5958715" cy="1137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252A31"/>
                </a:solidFill>
              </a:defRPr>
            </a:pPr>
            <a:r>
              <a:rPr sz="2000" b="0" i="0">
                <a:solidFill>
                  <a:srgbClr val="252A31"/>
                </a:solidFill>
              </a:rPr>
              <a:t>Feedback uses PERFECT / GREAT / GOOD / MISS, plus score and combo. HOLD and MOVE states prevent static poses from earning repeated points.</a:t>
            </a:r>
          </a:p>
        </p:txBody>
      </p:sp>
      <p:sp>
        <p:nvSpPr>
          <p:cNvPr id="229" name="gesture-game-bar">
            <a:extLst xmlns:a="http://schemas.openxmlformats.org/drawingml/2006/main">
              <a:ext uri="{FF2B5EF4-FFF2-40B4-BE49-F238E27FC236}">
                <a16:creationId xmlns:a16="http://schemas.microsoft.com/office/drawing/2014/main" id="{C81B22B9-FD4E-46B9-A893-FDF6A182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21633513"/>
            <a:ext cx="5988661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gesture-game-accent">
            <a:extLst xmlns:a="http://schemas.openxmlformats.org/drawingml/2006/main">
              <a:ext uri="{FF2B5EF4-FFF2-40B4-BE49-F238E27FC236}">
                <a16:creationId xmlns:a16="http://schemas.microsoft.com/office/drawing/2014/main" id="{980A27A0-867C-498B-A251-8D9C77B6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21633513"/>
            <a:ext cx="10480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gesture-game-title">
            <a:extLst xmlns:a="http://schemas.openxmlformats.org/drawingml/2006/main">
              <a:ext uri="{FF2B5EF4-FFF2-40B4-BE49-F238E27FC236}">
                <a16:creationId xmlns:a16="http://schemas.microsoft.com/office/drawing/2014/main" id="{3048B3ED-10CF-4008-9176-81066287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9317" y="21663456"/>
            <a:ext cx="5689226" cy="44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00" b="1" i="0">
                <a:solidFill>
                  <a:srgbClr val="17365D"/>
                </a:solidFill>
              </a:defRPr>
            </a:pPr>
            <a:r>
              <a:rPr sz="2800" b="1" i="0">
                <a:solidFill>
                  <a:srgbClr val="17365D"/>
                </a:solidFill>
              </a:rPr>
              <a:t>5. Gesture-controlled Game</a:t>
            </a:r>
          </a:p>
        </p:txBody>
      </p:sp>
      <p:sp>
        <p:nvSpPr>
          <p:cNvPr id="233" name="mario-caption">
            <a:extLst xmlns:a="http://schemas.openxmlformats.org/drawingml/2006/main">
              <a:ext uri="{FF2B5EF4-FFF2-40B4-BE49-F238E27FC236}">
                <a16:creationId xmlns:a16="http://schemas.microsoft.com/office/drawing/2014/main" id="{A25DB8B2-D434-4680-8DC2-23A24E7D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115" y="24574869"/>
            <a:ext cx="5988661" cy="419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86D75"/>
                </a:solidFill>
              </a:defRPr>
            </a:pPr>
            <a:r>
              <a:rPr sz="1800" b="0" i="0">
                <a:solidFill>
                  <a:srgbClr val="686D75"/>
                </a:solidFill>
              </a:rPr>
              <a:t>Fig. 6. The same pose stream controls a platform-game demonstration.</a:t>
            </a:r>
          </a:p>
        </p:txBody>
      </p:sp>
      <p:sp>
        <p:nvSpPr>
          <p:cNvPr id="234" name="gesture-copy">
            <a:extLst xmlns:a="http://schemas.openxmlformats.org/drawingml/2006/main">
              <a:ext uri="{FF2B5EF4-FFF2-40B4-BE49-F238E27FC236}">
                <a16:creationId xmlns:a16="http://schemas.microsoft.com/office/drawing/2014/main" id="{15CA8FB5-DEB6-4359-8C0B-22F89506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4795" y="25098303"/>
            <a:ext cx="5958715" cy="913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1" i="0">
                <a:solidFill>
                  <a:srgbClr val="252A31"/>
                </a:solidFill>
              </a:defRPr>
            </a:pPr>
            <a:r>
              <a:rPr sz="2000" b="1" i="0">
                <a:solidFill>
                  <a:srgbClr val="252A31"/>
                </a:solidFill>
              </a:rPr>
              <a:t>Gesture mapping: lean or move → left/right; raise the body → jump; lower the body → crouch.</a:t>
            </a:r>
          </a:p>
        </p:txBody>
      </p:sp>
      <p:sp>
        <p:nvSpPr>
          <p:cNvPr id="235" name="fairness-lesson-bg">
            <a:extLst xmlns:a="http://schemas.openxmlformats.org/drawingml/2006/main">
              <a:ext uri="{FF2B5EF4-FFF2-40B4-BE49-F238E27FC236}">
                <a16:creationId xmlns:a16="http://schemas.microsoft.com/office/drawing/2014/main" id="{90C8E4E1-F5EB-4D0F-8D9A-2DBDDD24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25824429"/>
            <a:ext cx="5988661" cy="1152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fairness-lesson-accent">
            <a:extLst xmlns:a="http://schemas.openxmlformats.org/drawingml/2006/main">
              <a:ext uri="{FF2B5EF4-FFF2-40B4-BE49-F238E27FC236}">
                <a16:creationId xmlns:a16="http://schemas.microsoft.com/office/drawing/2014/main" id="{455726A1-506D-427D-B222-E9835E7A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25824429"/>
            <a:ext cx="59886" cy="1152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fairness-lesson-text">
            <a:extLst xmlns:a="http://schemas.openxmlformats.org/drawingml/2006/main">
              <a:ext uri="{FF2B5EF4-FFF2-40B4-BE49-F238E27FC236}">
                <a16:creationId xmlns:a16="http://schemas.microsoft.com/office/drawing/2014/main" id="{C274F0B5-2495-4A25-A69F-AA805B22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374" y="25944203"/>
            <a:ext cx="5644310" cy="943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00" b="0" i="0">
                <a:solidFill>
                  <a:srgbClr val="4F4A3C"/>
                </a:solidFill>
              </a:defRPr>
            </a:pPr>
            <a:r>
              <a:rPr sz="2000" b="0" i="0">
                <a:solidFill>
                  <a:srgbClr val="4F4A3C"/>
                </a:solidFill>
              </a:rPr>
              <a:t>Practical lesson. Scale normalisation and lag handling reduce sensitivity to body size and reaction time.</a:t>
            </a:r>
          </a:p>
        </p:txBody>
      </p:sp>
      <p:sp>
        <p:nvSpPr>
          <p:cNvPr id="238" name="ack-rule">
            <a:extLst xmlns:a="http://schemas.openxmlformats.org/drawingml/2006/main">
              <a:ext uri="{FF2B5EF4-FFF2-40B4-BE49-F238E27FC236}">
                <a16:creationId xmlns:a16="http://schemas.microsoft.com/office/drawing/2014/main" id="{2AE87105-ABE8-4580-A142-F6A725C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27222450"/>
            <a:ext cx="5988661" cy="299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ack-bar">
            <a:extLst xmlns:a="http://schemas.openxmlformats.org/drawingml/2006/main">
              <a:ext uri="{FF2B5EF4-FFF2-40B4-BE49-F238E27FC236}">
                <a16:creationId xmlns:a16="http://schemas.microsoft.com/office/drawing/2014/main" id="{79A5AB72-7568-4E1F-AC9F-C2D179D6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27374850"/>
            <a:ext cx="5988661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ack-accent">
            <a:extLst xmlns:a="http://schemas.openxmlformats.org/drawingml/2006/main">
              <a:ext uri="{FF2B5EF4-FFF2-40B4-BE49-F238E27FC236}">
                <a16:creationId xmlns:a16="http://schemas.microsoft.com/office/drawing/2014/main" id="{4DDD1EC2-2881-49E2-9326-D34DE7D5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27374850"/>
            <a:ext cx="104802" cy="494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ack-title">
            <a:extLst xmlns:a="http://schemas.openxmlformats.org/drawingml/2006/main">
              <a:ext uri="{FF2B5EF4-FFF2-40B4-BE49-F238E27FC236}">
                <a16:creationId xmlns:a16="http://schemas.microsoft.com/office/drawing/2014/main" id="{E32CFF2A-49C2-4FCE-BDA0-4F4DC42F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9317" y="27403425"/>
            <a:ext cx="5689226" cy="449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Project and Acknowledgements</a:t>
            </a:r>
          </a:p>
        </p:txBody>
      </p:sp>
      <p:sp>
        <p:nvSpPr>
          <p:cNvPr id="242" name="ack-copy">
            <a:extLst xmlns:a="http://schemas.openxmlformats.org/drawingml/2006/main">
              <a:ext uri="{FF2B5EF4-FFF2-40B4-BE49-F238E27FC236}">
                <a16:creationId xmlns:a16="http://schemas.microsoft.com/office/drawing/2014/main" id="{4C175973-D932-4D36-BF05-7050DDDF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684" y="27946350"/>
            <a:ext cx="595871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52A31"/>
                </a:solidFill>
              </a:defRPr>
            </a:pPr>
            <a:r>
              <a:rPr sz="1800" b="0" i="0">
                <a:solidFill>
                  <a:srgbClr val="252A31"/>
                </a:solidFill>
              </a:rPr>
              <a:t>NUS School of Computing Summer Workshop (SWS3026). Thanks to the teaching team and contributors.</a:t>
            </a:r>
          </a:p>
        </p:txBody>
      </p:sp>
      <p:sp>
        <p:nvSpPr>
          <p:cNvPr id="243" name="repo-bg">
            <a:extLst xmlns:a="http://schemas.openxmlformats.org/drawingml/2006/main">
              <a:ext uri="{FF2B5EF4-FFF2-40B4-BE49-F238E27FC236}">
                <a16:creationId xmlns:a16="http://schemas.microsoft.com/office/drawing/2014/main" id="{4B3D4471-A3BC-4893-BA87-5EDB3727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741" y="28575000"/>
            <a:ext cx="5988661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2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repo-copy">
            <a:extLst xmlns:a="http://schemas.openxmlformats.org/drawingml/2006/main">
              <a:ext uri="{FF2B5EF4-FFF2-40B4-BE49-F238E27FC236}">
                <a16:creationId xmlns:a16="http://schemas.microsoft.com/office/drawing/2014/main" id="{033831C5-D9C2-473B-84DD-C7139BE9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9428" y="28584525"/>
            <a:ext cx="5689226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FFFFFF"/>
                </a:solidFill>
              </a:defRPr>
            </a:pPr>
            <a:r>
              <a:rPr sz="1400" b="1" i="0">
                <a:solidFill>
                  <a:srgbClr val="FFFFFF"/>
                </a:solidFill>
              </a:rPr>
              <a:t>GitHub Repository  ·</a:t>
            </a:r>
          </a:p>
          <a:p xmlns:a="http://schemas.openxmlformats.org/drawingml/2006/main">
            <a:pPr algn="l">
              <a:buNone/>
              <a:defRPr sz="1400" b="1" i="0">
                <a:solidFill>
                  <a:srgbClr val="FFFFFF"/>
                </a:solidFill>
              </a:defRPr>
            </a:pPr>
            <a:r>
              <a:rPr sz="1400" b="1" i="0">
                <a:solidFill>
                  <a:srgbClr val="FFFFFF"/>
                </a:solidFill>
              </a:rPr>
              <a:t>github.com/yunli2024/26Summer_NUS_SOC_</a:t>
            </a:r>
          </a:p>
          <a:p xmlns:a="http://schemas.openxmlformats.org/drawingml/2006/main">
            <a:pPr algn="l">
              <a:buNone/>
              <a:defRPr sz="1400" b="1" i="0">
                <a:solidFill>
                  <a:srgbClr val="FFFFFF"/>
                </a:solidFill>
              </a:defRPr>
            </a:pPr>
            <a:r>
              <a:rPr sz="1400" b="1" i="0">
                <a:solidFill>
                  <a:srgbClr val="FFFFFF"/>
                </a:solidFill>
              </a:rPr>
              <a:t>Visual_Computing_Project_G8</a:t>
            </a:r>
          </a:p>
        </p:txBody>
      </p:sp>
      <p:sp>
        <p:nvSpPr>
          <p:cNvPr id="245" name="footer">
            <a:extLst xmlns:a="http://schemas.openxmlformats.org/drawingml/2006/main">
              <a:ext uri="{FF2B5EF4-FFF2-40B4-BE49-F238E27FC236}">
                <a16:creationId xmlns:a16="http://schemas.microsoft.com/office/drawing/2014/main" id="{FEE6474C-17B4-4BE3-9255-FEF2884B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46" y="29657173"/>
            <a:ext cx="20960308" cy="5988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1"/>
          </a:solidFill>
          <a:ln xmlns:a="http://schemas.openxmlformats.org/drawingml/2006/main" w="14973">
            <a:solidFill>
              <a:srgbClr val="C8BECD"/>
            </a:solidFill>
            <a:prstDash val="solid"/>
          </a:ln>
        </p:spPr>
      </p:sp>
      <p:sp>
        <p:nvSpPr>
          <p:cNvPr id="24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E558941-D5D8-41BE-99C1-8429B412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98" y="29836833"/>
            <a:ext cx="6138375" cy="269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625A67"/>
                </a:solidFill>
              </a:defRPr>
            </a:pPr>
            <a:r>
              <a:rPr sz="1400" b="0" i="0">
                <a:solidFill>
                  <a:srgbClr val="625A67"/>
                </a:solidFill>
              </a:rPr>
              <a:t>Real-time Facial and Body Keypoint Analysis</a:t>
            </a:r>
          </a:p>
        </p:txBody>
      </p:sp>
      <p:sp>
        <p:nvSpPr>
          <p:cNvPr id="24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B3F32AE4-5A8F-438A-9EBE-3C0604AC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385" y="29821860"/>
            <a:ext cx="5689226" cy="269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00" b="0" i="1">
                <a:solidFill>
                  <a:srgbClr val="9B4B38"/>
                </a:solidFill>
              </a:defRPr>
            </a:pPr>
            <a:r>
              <a:rPr sz="1400" b="0" i="1">
                <a:solidFill>
                  <a:srgbClr val="9B4B38"/>
                </a:solidFill>
              </a:rPr>
              <a:t>built to work live, not only in screenshots.</a:t>
            </a:r>
          </a:p>
        </p:txBody>
      </p:sp>
      <p:sp>
        <p:nvSpPr>
          <p:cNvPr id="24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C10CB26-26AC-46CD-8E91-F39E2581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3493" y="29836833"/>
            <a:ext cx="5329906" cy="269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400" b="0" i="0">
                <a:solidFill>
                  <a:srgbClr val="625A67"/>
                </a:solidFill>
              </a:defRPr>
            </a:pPr>
            <a:r>
              <a:rPr sz="1400" b="0" i="0">
                <a:solidFill>
                  <a:srgbClr val="625A67"/>
                </a:solidFill>
              </a:rPr>
              <a:t>Group 8 · NUS SWS3026 Visual Computing</a:t>
            </a:r>
          </a:p>
        </p:txBody>
      </p:sp>
      <p:pic>
        <p:nvPicPr>
          <p:cNvPr id="40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a40aa58a04e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55347" y="22169048"/>
            <a:ext cx="5077165" cy="23977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0566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2026-07-28T03:44:13.3000000Z</dcterms:created>
  <dcterms:modified xsi:type="dcterms:W3CDTF">2026-07-28T03:44:13.3000000Z</dcterms:modified>
</coreProperties>
</file>